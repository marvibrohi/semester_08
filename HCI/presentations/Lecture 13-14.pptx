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94" r:id="rId2"/>
  </p:sldMasterIdLst>
  <p:notesMasterIdLst>
    <p:notesMasterId r:id="rId15"/>
  </p:notesMasterIdLst>
  <p:sldIdLst>
    <p:sldId id="256" r:id="rId3"/>
    <p:sldId id="315" r:id="rId4"/>
    <p:sldId id="316" r:id="rId5"/>
    <p:sldId id="359" r:id="rId6"/>
    <p:sldId id="360" r:id="rId7"/>
    <p:sldId id="361" r:id="rId8"/>
    <p:sldId id="362" r:id="rId9"/>
    <p:sldId id="363" r:id="rId10"/>
    <p:sldId id="364" r:id="rId11"/>
    <p:sldId id="365" r:id="rId12"/>
    <p:sldId id="366" r:id="rId13"/>
    <p:sldId id="367" r:id="rId14"/>
  </p:sldIdLst>
  <p:sldSz cx="12192000" cy="6858000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07" autoAdjust="0"/>
    <p:restoredTop sz="94660"/>
  </p:normalViewPr>
  <p:slideViewPr>
    <p:cSldViewPr>
      <p:cViewPr varScale="1">
        <p:scale>
          <a:sx n="70" d="100"/>
          <a:sy n="70" d="100"/>
        </p:scale>
        <p:origin x="702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1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rtlCol="0"/>
          <a:lstStyle>
            <a:lvl1pPr algn="r">
              <a:defRPr sz="1200"/>
            </a:lvl1pPr>
          </a:lstStyle>
          <a:p>
            <a:fld id="{2447E72A-D913-4DC2-9E0A-E520CE8FCC86}" type="datetimeFigureOut">
              <a:rPr lang="en-US" smtClean="0"/>
              <a:pPr/>
              <a:t>2/17/2026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rtlCol="0" anchor="b"/>
          <a:lstStyle>
            <a:lvl1pPr algn="r">
              <a:defRPr sz="1200"/>
            </a:lvl1pPr>
          </a:lstStyle>
          <a:p>
            <a:fld id="{A5D78FC6-CE17-4259-A63C-DDFC12E048F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699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D78FC6-CE17-4259-A63C-DDFC12E048FC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3052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>
          <a:xfrm>
            <a:off x="-12192" y="6053328"/>
            <a:ext cx="2999232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11" name="Rectangle 10"/>
          <p:cNvSpPr/>
          <p:nvPr/>
        </p:nvSpPr>
        <p:spPr>
          <a:xfrm>
            <a:off x="3145536" y="6044184"/>
            <a:ext cx="90464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149600" y="4038600"/>
            <a:ext cx="8636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3149600" y="6050037"/>
            <a:ext cx="89408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01600" y="6068699"/>
            <a:ext cx="27432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pPr algn="ctr"/>
            <a:r>
              <a:rPr lang="en-US" smtClean="0"/>
              <a:t>‹#›</a:t>
            </a:r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80524" y="236539"/>
            <a:ext cx="78232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pPr algn="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0668000" y="228600"/>
            <a:ext cx="11176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2AC53DF-4216-466D-99A7-94400E6C2A25}" type="slidenum">
              <a:rPr lang="en-US" smtClean="0"/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6864" y="228600"/>
            <a:ext cx="10871200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495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28801" y="2743200"/>
            <a:ext cx="9497484" cy="1673225"/>
          </a:xfrm>
        </p:spPr>
        <p:txBody>
          <a:bodyPr anchor="t"/>
          <a:lstStyle>
            <a:lvl1pPr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12192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7272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>
          <a:xfrm>
            <a:off x="1828800" y="1600200"/>
            <a:ext cx="103632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1600200"/>
            <a:ext cx="1016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7272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 sz="2400" dirty="0">
              <a:solidFill>
                <a:srgbClr val="FFFFFF"/>
              </a:solidFill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589567"/>
            <a:ext cx="5181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459868" y="1589567"/>
            <a:ext cx="5181600" cy="4572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r>
              <a:rPr lang="en-US" smtClean="0"/>
              <a:t>‹#›</a:t>
            </a:r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273050"/>
            <a:ext cx="108712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812800" y="2438400"/>
            <a:ext cx="5181600" cy="3581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6400800" y="2438400"/>
            <a:ext cx="5181600" cy="3581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r>
              <a:rPr lang="en-US" smtClean="0"/>
              <a:t>‹#›</a:t>
            </a:r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812800" y="1752600"/>
            <a:ext cx="51816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6400800" y="1752600"/>
            <a:ext cx="51816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711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273050"/>
            <a:ext cx="107696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‹#›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AD93096-5B34-4342-9326-69289CEAE4C2}" type="slidenum">
              <a:rPr lang="en-US" smtClean="0"/>
              <a:pPr/>
              <a:t>‹#›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812800" y="1752600"/>
            <a:ext cx="10871200" cy="44196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33600" y="5486400"/>
            <a:ext cx="97536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12192" y="4572000"/>
            <a:ext cx="12192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>
          <a:xfrm>
            <a:off x="-12192" y="4663440"/>
            <a:ext cx="195072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10" name="Rectangle 9"/>
          <p:cNvSpPr/>
          <p:nvPr/>
        </p:nvSpPr>
        <p:spPr>
          <a:xfrm>
            <a:off x="2060448" y="4654296"/>
            <a:ext cx="10131552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3600" y="4648200"/>
            <a:ext cx="97536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 bwMode="white">
          <a:xfrm>
            <a:off x="1930400" y="0"/>
            <a:ext cx="134112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8331200" y="6248401"/>
            <a:ext cx="3556000" cy="365125"/>
          </a:xfrm>
        </p:spPr>
        <p:txBody>
          <a:bodyPr rtlCol="0"/>
          <a:lstStyle/>
          <a:p>
            <a:r>
              <a:rPr lang="en-US" smtClean="0"/>
              <a:t>‹#›</a:t>
            </a:r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930400" cy="663578"/>
          </a:xfrm>
        </p:spPr>
        <p:txBody>
          <a:bodyPr rtlCol="0"/>
          <a:lstStyle>
            <a:lvl1pPr>
              <a:defRPr sz="2800"/>
            </a:lvl1pPr>
          </a:lstStyle>
          <a:p>
            <a:pPr algn="ctr"/>
            <a:fld id="{1AD93096-5B34-4342-9326-69289CEAE4C2}" type="slidenum">
              <a:rPr lang="en-US" smtClean="0"/>
              <a:pPr algn="ctr"/>
              <a:t>‹#›</a:t>
            </a:fld>
            <a:endParaRPr lang="en-US" sz="2800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2133600" y="6248207"/>
            <a:ext cx="6096000" cy="365125"/>
          </a:xfrm>
        </p:spPr>
        <p:txBody>
          <a:bodyPr rtlCol="0"/>
          <a:lstStyle/>
          <a:p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80768" y="0"/>
            <a:ext cx="10111232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>
                <a:solidFill>
                  <a:schemeClr val="tx2"/>
                </a:solidFill>
              </a:rPr>
              <a:t>‹#›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37600" y="609601"/>
            <a:ext cx="2743200" cy="55165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7416800" cy="551656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737600" y="6248403"/>
            <a:ext cx="2946400" cy="365125"/>
          </a:xfrm>
        </p:spPr>
        <p:txBody>
          <a:bodyPr/>
          <a:lstStyle/>
          <a:p>
            <a:r>
              <a:rPr lang="en-US" smtClean="0">
                <a:solidFill>
                  <a:schemeClr val="tx2"/>
                </a:solidFill>
              </a:rPr>
              <a:t>‹#›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2" y="6248208"/>
            <a:ext cx="7431311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 bwMode="white">
          <a:xfrm>
            <a:off x="8128424" y="0"/>
            <a:ext cx="42672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8189384" y="609600"/>
            <a:ext cx="3048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>
          <a:xfrm>
            <a:off x="8189384" y="0"/>
            <a:ext cx="3048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075084" y="103716"/>
            <a:ext cx="533400" cy="325968"/>
          </a:xfrm>
        </p:spPr>
        <p:txBody>
          <a:bodyPr/>
          <a:lstStyle/>
          <a:p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812800" y="228600"/>
            <a:ext cx="108712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816864" y="1600200"/>
            <a:ext cx="108712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8128000" y="6248401"/>
            <a:ext cx="3556000" cy="365125"/>
          </a:xfrm>
          <a:prstGeom prst="rect">
            <a:avLst/>
          </a:prstGeom>
        </p:spPr>
        <p:txBody>
          <a:bodyPr vert="horz" anchor="ctr" anchorCtr="0"/>
          <a:lstStyle>
            <a:lvl1pPr algn="l"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 smtClean="0">
                <a:solidFill>
                  <a:schemeClr val="tx2"/>
                </a:solidFill>
              </a:rPr>
              <a:t>‹#›</a:t>
            </a:r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812801" y="6248207"/>
            <a:ext cx="7228111" cy="365125"/>
          </a:xfrm>
          <a:prstGeom prst="rect">
            <a:avLst/>
          </a:prstGeom>
        </p:spPr>
        <p:txBody>
          <a:bodyPr vert="horz" anchor="ctr"/>
          <a:lstStyle>
            <a:lvl1pPr algn="r">
              <a:defRPr sz="1400">
                <a:solidFill>
                  <a:schemeClr val="tx2"/>
                </a:solidFill>
              </a:defRPr>
            </a:lvl1pPr>
          </a:lstStyle>
          <a:p>
            <a:pPr algn="r"/>
            <a:endParaRPr lang="en-US" sz="1400" dirty="0">
              <a:solidFill>
                <a:schemeClr val="tx2"/>
              </a:solidFill>
            </a:endParaRPr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12192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7112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9" name="Rectangle 8"/>
          <p:cNvSpPr/>
          <p:nvPr/>
        </p:nvSpPr>
        <p:spPr>
          <a:xfrm>
            <a:off x="787400" y="1280160"/>
            <a:ext cx="1140460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lang="en-US" sz="180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7112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>
              <a:defRPr sz="1400" b="1">
                <a:solidFill>
                  <a:srgbClr val="FFFFFF"/>
                </a:solidFill>
              </a:defRPr>
            </a:lvl1pPr>
          </a:lstStyle>
          <a:p>
            <a:pPr algn="ctr"/>
            <a:fld id="{72AC53DF-4216-466D-99A7-94400E6C2A25}" type="slidenum">
              <a:rPr lang="en-US" sz="1200" smtClean="0">
                <a:solidFill>
                  <a:schemeClr val="tx2"/>
                </a:solidFill>
              </a:rPr>
              <a:pPr algn="ctr"/>
              <a:t>‹#›</a:t>
            </a:fld>
            <a:endParaRPr lang="en-US" sz="1400" b="1" dirty="0"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sz="4400" kern="1200">
          <a:solidFill>
            <a:srgbClr val="FF0000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hangingPunct="1">
        <a:defRPr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>
          <a:xfrm>
            <a:off x="1981200" y="4343400"/>
            <a:ext cx="8305800" cy="1447800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Limits on Attention, Shape, Thought, and Action (Chapter 8)</a:t>
            </a: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/>
            </a:r>
            <a:br>
              <a:rPr lang="en-US" sz="3600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US" sz="3600" dirty="0">
                <a:solidFill>
                  <a:schemeClr val="accent1">
                    <a:lumMod val="75000"/>
                  </a:schemeClr>
                </a:solidFill>
              </a:rPr>
              <a:t>Lecture 13-14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D93096-5B34-4342-9326-69289CEAE4C2}" type="slidenum">
              <a:rPr lang="en-US" smtClean="0"/>
              <a:pPr/>
              <a:t>2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816864" y="1600200"/>
            <a:ext cx="10871200" cy="4800600"/>
          </a:xfrm>
        </p:spPr>
        <p:txBody>
          <a:bodyPr/>
          <a:lstStyle/>
          <a:p>
            <a:r>
              <a:rPr lang="en-US" dirty="0" smtClean="0"/>
              <a:t>Purposeful interaction leads to predictable patterns of users’ behavior</a:t>
            </a:r>
          </a:p>
          <a:p>
            <a:r>
              <a:rPr lang="en-US" dirty="0" smtClean="0"/>
              <a:t>Limited capacity of attention and short-term memory</a:t>
            </a:r>
          </a:p>
          <a:p>
            <a:r>
              <a:rPr lang="en-US" dirty="0" smtClean="0"/>
              <a:t>Systems are better if recognize and support those patterns</a:t>
            </a:r>
            <a:endParaRPr lang="en-US" dirty="0"/>
          </a:p>
          <a:p>
            <a:r>
              <a:rPr lang="en-US" dirty="0" smtClean="0"/>
              <a:t>Six important patterns are discussed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2026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952" y="152400"/>
            <a:ext cx="111252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WE FOCUS ON OUR GOALS AND PAY LITTLE ATTENTION  TO OUR TOOLS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D93096-5B34-4342-9326-69289CEAE4C2}" type="slidenum">
              <a:rPr lang="en-US" smtClean="0"/>
              <a:pPr/>
              <a:t>3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If we focus too much on the tool/apps/online services, and other interactive appliances, we may lose the track of task to be performed to achieve desired goal </a:t>
            </a:r>
          </a:p>
          <a:p>
            <a:r>
              <a:rPr lang="en-US" dirty="0" smtClean="0"/>
              <a:t>Software system should not call attention to itself</a:t>
            </a:r>
          </a:p>
          <a:p>
            <a:r>
              <a:rPr lang="en-US" dirty="0" smtClean="0"/>
              <a:t>Software system should allow users to focus on their goals through fading something into background </a:t>
            </a:r>
          </a:p>
          <a:p>
            <a:r>
              <a:rPr lang="en-US" dirty="0" smtClean="0"/>
              <a:t>“Don’t make me think” (Krug, 2005)</a:t>
            </a:r>
          </a:p>
        </p:txBody>
      </p:sp>
    </p:spTree>
    <p:extLst>
      <p:ext uri="{BB962C8B-B14F-4D97-AF65-F5344CB8AC3E}">
        <p14:creationId xmlns:p14="http://schemas.microsoft.com/office/powerpoint/2010/main" val="1689046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9355" y="152400"/>
            <a:ext cx="108712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WE USE EXTERNAL AIDS TO KEEP TRACK OF  WHAT WE ARE </a:t>
            </a:r>
            <a:r>
              <a:rPr lang="en-US" dirty="0" smtClean="0"/>
              <a:t>DOING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D93096-5B34-4342-9326-69289CEAE4C2}" type="slidenum">
              <a:rPr lang="en-US" smtClean="0"/>
              <a:pPr/>
              <a:t>4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We </a:t>
            </a:r>
            <a:r>
              <a:rPr lang="en-US" dirty="0"/>
              <a:t>mark up our environment to show us where we are in a </a:t>
            </a:r>
            <a:r>
              <a:rPr lang="en-US" dirty="0" smtClean="0"/>
              <a:t>task</a:t>
            </a:r>
          </a:p>
          <a:p>
            <a:pPr lvl="1"/>
            <a:r>
              <a:rPr lang="en-US" dirty="0" smtClean="0"/>
              <a:t>For example: Counting objects, reading books, arithmetic, checklists, Editing documents</a:t>
            </a:r>
          </a:p>
          <a:p>
            <a:r>
              <a:rPr lang="en-US" dirty="0" smtClean="0"/>
              <a:t>System should indicate what user has done VS what user has not yet done</a:t>
            </a:r>
          </a:p>
          <a:p>
            <a:pPr lvl="1"/>
            <a:r>
              <a:rPr lang="en-US" dirty="0" smtClean="0"/>
              <a:t>For example: Read VS unread emails, visited VS unvisited links, marking completed steps</a:t>
            </a:r>
          </a:p>
          <a:p>
            <a:r>
              <a:rPr lang="en-US" dirty="0" smtClean="0"/>
              <a:t>System should allow users to mark or move objects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21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127965"/>
            <a:ext cx="108712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WE USE EXTERNAL AIDS TO KEEP TRACK OF  WHAT WE ARE DOING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D93096-5B34-4342-9326-69289CEAE4C2}" type="slidenum">
              <a:rPr lang="en-US" smtClean="0"/>
              <a:pPr/>
              <a:t>5</a:t>
            </a:fld>
            <a:endParaRPr lang="en-US" dirty="0">
              <a:solidFill>
                <a:srgbClr val="FFFFFF"/>
              </a:solidFill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781175"/>
            <a:ext cx="7620000" cy="31298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6614" y="5105400"/>
            <a:ext cx="5438775" cy="13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1600200" y="6627168"/>
            <a:ext cx="35052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Figure Source: Designing with the Mind in Mind, J. Johnson, 2</a:t>
            </a:r>
            <a:r>
              <a:rPr lang="en-US" sz="900" baseline="30000" dirty="0"/>
              <a:t>nd</a:t>
            </a:r>
            <a:r>
              <a:rPr lang="en-US" sz="900" dirty="0"/>
              <a:t> Ed. P. 99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0385316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152400"/>
            <a:ext cx="11146536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WE FOLLOW INFORMATION “SCENT” TOWARD OUR GOAL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D93096-5B34-4342-9326-69289CEAE4C2}" type="slidenum">
              <a:rPr lang="en-US" smtClean="0"/>
              <a:pPr/>
              <a:t>6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136648" y="1600200"/>
            <a:ext cx="8153400" cy="5181600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/>
              <a:t>People do not think deeply about information such as instructions, command names, option </a:t>
            </a:r>
            <a:r>
              <a:rPr lang="en-US" dirty="0" err="1" smtClean="0"/>
              <a:t>lables</a:t>
            </a:r>
            <a:r>
              <a:rPr lang="en-US" dirty="0" smtClean="0"/>
              <a:t>, icons, navigation bars and other aspects while having attention to a specific goal</a:t>
            </a:r>
          </a:p>
          <a:p>
            <a:pPr lvl="1"/>
            <a:r>
              <a:rPr lang="en-US" dirty="0" smtClean="0"/>
              <a:t>For example, If someone wants to make a flight reservation, his attention will be attracted to any word displayed on screen i.e. “buy”, “flight”, “ticket”, or “reservation” as a goal</a:t>
            </a:r>
          </a:p>
          <a:p>
            <a:pPr lvl="1"/>
            <a:r>
              <a:rPr lang="en-US" dirty="0" smtClean="0"/>
              <a:t>“bargain hotels” is not attractive in this context</a:t>
            </a:r>
          </a:p>
          <a:p>
            <a:pPr lvl="1">
              <a:buClr>
                <a:srgbClr val="53548A"/>
              </a:buClr>
            </a:pPr>
            <a:r>
              <a:rPr lang="en-US" dirty="0"/>
              <a:t>The goal-seeking strategy of following the information scent, observed across a wide variety of situations and systems, suggests that interactive systems should be designed so that the scent is strong that really leads users to their goals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2873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131647"/>
            <a:ext cx="108712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WE FOLLOW INFORMATION “SCENT” TOWARD OUR GOAL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D93096-5B34-4342-9326-69289CEAE4C2}" type="slidenum">
              <a:rPr lang="en-US" smtClean="0"/>
              <a:pPr/>
              <a:t>7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136648" y="1600200"/>
            <a:ext cx="8455152" cy="5056103"/>
          </a:xfrm>
        </p:spPr>
        <p:txBody>
          <a:bodyPr>
            <a:normAutofit/>
          </a:bodyPr>
          <a:lstStyle/>
          <a:p>
            <a:pPr lvl="1"/>
            <a:r>
              <a:rPr lang="en-US" dirty="0" smtClean="0"/>
              <a:t>Understand user’s goal =&gt; design task having decision points=&gt; each decision point may provide some options to user to accomplish desired goal</a:t>
            </a:r>
          </a:p>
          <a:p>
            <a:pPr lvl="1"/>
            <a:r>
              <a:rPr lang="en-US" dirty="0" smtClean="0"/>
              <a:t>Main purpose is to convey which option leads to which desired user’s goal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762935"/>
            <a:ext cx="8234612" cy="28933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600200" y="6627168"/>
            <a:ext cx="3581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Figure Source: Designing with the Mind in Mind, J. Johnson, 2</a:t>
            </a:r>
            <a:r>
              <a:rPr lang="en-US" sz="900" baseline="30000" dirty="0"/>
              <a:t>nd</a:t>
            </a:r>
            <a:r>
              <a:rPr lang="en-US" sz="900" dirty="0"/>
              <a:t> Ed. P. 100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702327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130338"/>
            <a:ext cx="108712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WE FOLLOW INFORMATION “SCENT” TOWARD OUR GOAL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D93096-5B34-4342-9326-69289CEAE4C2}" type="slidenum">
              <a:rPr lang="en-US" smtClean="0"/>
              <a:pPr/>
              <a:t>8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00200" y="6627168"/>
            <a:ext cx="3581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Figure Source: Designing with the Mind in Mind, J. Johnson, 2</a:t>
            </a:r>
            <a:r>
              <a:rPr lang="en-US" sz="900" baseline="30000" dirty="0"/>
              <a:t>nd</a:t>
            </a:r>
            <a:r>
              <a:rPr lang="en-US" sz="900" dirty="0"/>
              <a:t> Ed. P. 101</a:t>
            </a:r>
            <a:endParaRPr lang="en-US" sz="9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1676400"/>
            <a:ext cx="8915399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192256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121531"/>
            <a:ext cx="10871200" cy="990600"/>
          </a:xfrm>
        </p:spPr>
        <p:txBody>
          <a:bodyPr>
            <a:normAutofit fontScale="90000"/>
          </a:bodyPr>
          <a:lstStyle/>
          <a:p>
            <a:r>
              <a:rPr lang="en-US" dirty="0"/>
              <a:t>WE FOLLOW INFORMATION “SCENT” TOWARD OUR GOAL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D93096-5B34-4342-9326-69289CEAE4C2}" type="slidenum">
              <a:rPr lang="en-US" smtClean="0"/>
              <a:pPr/>
              <a:t>9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600200" y="6627168"/>
            <a:ext cx="3581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Figure Source: Designing with the Mind in Mind, J. Johnson, 2</a:t>
            </a:r>
            <a:r>
              <a:rPr lang="en-US" sz="900" baseline="30000" dirty="0"/>
              <a:t>nd</a:t>
            </a:r>
            <a:r>
              <a:rPr lang="en-US" sz="900" dirty="0"/>
              <a:t> Ed. P. 101</a:t>
            </a:r>
            <a:endParaRPr lang="en-US" sz="900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990726"/>
            <a:ext cx="7543800" cy="3876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30896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WE PREFER FAMILIAR </a:t>
            </a:r>
            <a:r>
              <a:rPr lang="en-US" dirty="0" smtClean="0"/>
              <a:t>PATHS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D93096-5B34-4342-9326-69289CEAE4C2}" type="slidenum">
              <a:rPr lang="en-US" smtClean="0"/>
              <a:pPr/>
              <a:t>10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2136648" y="1600200"/>
            <a:ext cx="8153400" cy="5105400"/>
          </a:xfrm>
        </p:spPr>
        <p:txBody>
          <a:bodyPr>
            <a:normAutofit/>
          </a:bodyPr>
          <a:lstStyle/>
          <a:p>
            <a:r>
              <a:rPr lang="en-US" dirty="0" smtClean="0"/>
              <a:t>People prefer familiar paths rather than exploring new ones (particularly in time bound situations)</a:t>
            </a:r>
          </a:p>
          <a:p>
            <a:r>
              <a:rPr lang="en-US" dirty="0" smtClean="0"/>
              <a:t>We learn one way to do task then follow it and never discover a more efficient way</a:t>
            </a:r>
          </a:p>
          <a:p>
            <a:r>
              <a:rPr lang="en-US" dirty="0" smtClean="0"/>
              <a:t>Sometimes </a:t>
            </a:r>
            <a:r>
              <a:rPr lang="en-US" dirty="0"/>
              <a:t>mindlessness trumps </a:t>
            </a:r>
            <a:r>
              <a:rPr lang="en-US" dirty="0" smtClean="0"/>
              <a:t>keystrokes while using frequent and less frequent systems (e.g. no of keystrokes per task)</a:t>
            </a:r>
          </a:p>
          <a:p>
            <a:r>
              <a:rPr lang="en-US" dirty="0"/>
              <a:t>Guide users to the best </a:t>
            </a:r>
            <a:r>
              <a:rPr lang="en-US" dirty="0" smtClean="0"/>
              <a:t>paths towards a goal by providing clear info: scent</a:t>
            </a:r>
          </a:p>
          <a:p>
            <a:r>
              <a:rPr lang="en-US" dirty="0"/>
              <a:t>Help experienced users speed </a:t>
            </a:r>
            <a:r>
              <a:rPr lang="en-US" dirty="0" smtClean="0"/>
              <a:t>up to accomplish a goal (e.g. make it easy for users to switch from slower to faster paths after being experienced)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9735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10210800" cy="1066800"/>
          </a:xfrm>
        </p:spPr>
        <p:txBody>
          <a:bodyPr>
            <a:normAutofit fontScale="90000"/>
          </a:bodyPr>
          <a:lstStyle/>
          <a:p>
            <a:r>
              <a:rPr lang="en-US" dirty="0"/>
              <a:t>OUR THOUGHT </a:t>
            </a:r>
            <a:r>
              <a:rPr lang="en-US" dirty="0" smtClean="0"/>
              <a:t>CYCLE: GOAL, EXECUTE</a:t>
            </a:r>
            <a:r>
              <a:rPr lang="en-US" dirty="0"/>
              <a:t>, </a:t>
            </a:r>
            <a:r>
              <a:rPr lang="en-US" dirty="0" smtClean="0"/>
              <a:t>EVALUATE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D93096-5B34-4342-9326-69289CEAE4C2}" type="slidenum">
              <a:rPr lang="en-US" smtClean="0"/>
              <a:pPr/>
              <a:t>11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Form a goal (e.g. Open a Bank Account)</a:t>
            </a:r>
          </a:p>
          <a:p>
            <a:pPr lvl="1"/>
            <a:r>
              <a:rPr lang="en-US" dirty="0" smtClean="0"/>
              <a:t>Provide clear paths including initial steps</a:t>
            </a:r>
          </a:p>
          <a:p>
            <a:r>
              <a:rPr lang="en-US" dirty="0" smtClean="0"/>
              <a:t>Choose and execute actions for making progress towards a goal </a:t>
            </a:r>
          </a:p>
          <a:p>
            <a:pPr lvl="1"/>
            <a:r>
              <a:rPr lang="en-US" dirty="0" smtClean="0"/>
              <a:t>Software concepts should be based on the tasks</a:t>
            </a:r>
          </a:p>
          <a:p>
            <a:r>
              <a:rPr lang="en-US" dirty="0"/>
              <a:t>E</a:t>
            </a:r>
            <a:r>
              <a:rPr lang="en-US" dirty="0" smtClean="0"/>
              <a:t>valuate whether the actions worked</a:t>
            </a:r>
          </a:p>
          <a:p>
            <a:pPr lvl="1"/>
            <a:r>
              <a:rPr lang="en-US" dirty="0" smtClean="0"/>
              <a:t>Provide feedback and status information</a:t>
            </a:r>
          </a:p>
          <a:p>
            <a:r>
              <a:rPr lang="en-US" dirty="0" smtClean="0"/>
              <a:t>Repeat until the goal is achieved</a:t>
            </a:r>
          </a:p>
          <a:p>
            <a:endParaRPr lang="en-US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245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52400"/>
            <a:ext cx="10185401" cy="990600"/>
          </a:xfrm>
        </p:spPr>
        <p:txBody>
          <a:bodyPr>
            <a:noAutofit/>
          </a:bodyPr>
          <a:lstStyle/>
          <a:p>
            <a:r>
              <a:rPr lang="en-US" sz="3600" dirty="0"/>
              <a:t>AFTER WE ACHIEVE A TASK’S PRIMARY </a:t>
            </a:r>
            <a:r>
              <a:rPr lang="en-US" sz="3600" dirty="0" smtClean="0"/>
              <a:t>GOAL, WE </a:t>
            </a:r>
            <a:r>
              <a:rPr lang="en-US" sz="3600" dirty="0"/>
              <a:t>OFTEN FORGET CLEANUP STEPS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1AD93096-5B34-4342-9326-69289CEAE4C2}" type="slidenum">
              <a:rPr lang="en-US" smtClean="0"/>
              <a:pPr/>
              <a:t>12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 smtClean="0"/>
              <a:t>Attention is a very limited resource</a:t>
            </a:r>
          </a:p>
          <a:p>
            <a:r>
              <a:rPr lang="en-US" dirty="0" smtClean="0"/>
              <a:t>No focus on anything that is no longer important</a:t>
            </a:r>
          </a:p>
          <a:p>
            <a:r>
              <a:rPr lang="en-US" dirty="0" smtClean="0"/>
              <a:t>People often forget loose ends of the task</a:t>
            </a:r>
          </a:p>
          <a:p>
            <a:pPr lvl="1"/>
            <a:r>
              <a:rPr lang="en-US" dirty="0" smtClean="0"/>
              <a:t>Turn car headlights off after arrival</a:t>
            </a:r>
          </a:p>
          <a:p>
            <a:pPr lvl="1"/>
            <a:r>
              <a:rPr lang="en-US" dirty="0" smtClean="0"/>
              <a:t>Remove last pages of documents from copier/scanner</a:t>
            </a:r>
          </a:p>
          <a:p>
            <a:r>
              <a:rPr lang="en-US" dirty="0"/>
              <a:t> When they happen to us, we call ourselves “absent-minded</a:t>
            </a:r>
            <a:r>
              <a:rPr lang="en-US" dirty="0" smtClean="0"/>
              <a:t>,”</a:t>
            </a:r>
          </a:p>
          <a:p>
            <a:pPr lvl="1"/>
            <a:r>
              <a:rPr lang="en-US" dirty="0" smtClean="0"/>
              <a:t>In fact, the brain works in this way </a:t>
            </a:r>
            <a:r>
              <a:rPr lang="en-US" dirty="0" smtClean="0">
                <a:sym typeface="Wingdings" panose="05000000000000000000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8216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cademicPresentation3">
  <a:themeElements>
    <a:clrScheme name="Urban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438086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0000"/>
                <a:satMod val="155000"/>
              </a:schemeClr>
            </a:gs>
            <a:gs pos="65000">
              <a:schemeClr val="phClr">
                <a:shade val="85000"/>
                <a:satMod val="155000"/>
              </a:schemeClr>
            </a:gs>
            <a:gs pos="100000">
              <a:schemeClr val="phClr">
                <a:shade val="95000"/>
                <a:satMod val="155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4925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algn="tl" rotWithShape="0">
              <a:srgbClr val="000000">
                <a:alpha val="64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39000" dist="25400" dir="5400000">
              <a:srgbClr val="000000">
                <a:alpha val="3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prstMaterial="matte">
            <a:bevelT h="22225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0000"/>
                <a:satMod val="155000"/>
              </a:schemeClr>
            </a:gs>
            <a:gs pos="35000">
              <a:schemeClr val="phClr">
                <a:shade val="75000"/>
                <a:satMod val="155000"/>
              </a:schemeClr>
            </a:gs>
            <a:gs pos="100000">
              <a:schemeClr val="phClr">
                <a:tint val="80000"/>
                <a:satMod val="255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7DDB1280-0676-4822-8A4D-E954834AE20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AcademicPresentation3</Template>
  <TotalTime>0</TotalTime>
  <Words>730</Words>
  <Application>Microsoft Office PowerPoint</Application>
  <PresentationFormat>Widescreen</PresentationFormat>
  <Paragraphs>66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Calibri</vt:lpstr>
      <vt:lpstr>Times New Roman</vt:lpstr>
      <vt:lpstr>Tw Cen MT</vt:lpstr>
      <vt:lpstr>Wingdings</vt:lpstr>
      <vt:lpstr>Wingdings 2</vt:lpstr>
      <vt:lpstr>AcademicPresentation3</vt:lpstr>
      <vt:lpstr>Limits on Attention, Shape, Thought, and Action (Chapter 8) Lecture 13-14</vt:lpstr>
      <vt:lpstr>Introduction</vt:lpstr>
      <vt:lpstr>WE FOCUS ON OUR GOALS AND PAY LITTLE ATTENTION  TO OUR TOOLS</vt:lpstr>
      <vt:lpstr>WE USE EXTERNAL AIDS TO KEEP TRACK OF  WHAT WE ARE DOING</vt:lpstr>
      <vt:lpstr>WE USE EXTERNAL AIDS TO KEEP TRACK OF  WHAT WE ARE DOING</vt:lpstr>
      <vt:lpstr>WE FOLLOW INFORMATION “SCENT” TOWARD OUR GOAL</vt:lpstr>
      <vt:lpstr>WE FOLLOW INFORMATION “SCENT” TOWARD OUR GOAL</vt:lpstr>
      <vt:lpstr>WE FOLLOW INFORMATION “SCENT” TOWARD OUR GOAL</vt:lpstr>
      <vt:lpstr>WE FOLLOW INFORMATION “SCENT” TOWARD OUR GOAL</vt:lpstr>
      <vt:lpstr>WE PREFER FAMILIAR PATHS</vt:lpstr>
      <vt:lpstr>OUR THOUGHT CYCLE: GOAL, EXECUTE, EVALUATE</vt:lpstr>
      <vt:lpstr>AFTER WE ACHIEVE A TASK’S PRIMARY GOAL, WE OFTEN FORGET CLEANUP STEPS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2013-02-03T16:38:09Z</dcterms:created>
  <dcterms:modified xsi:type="dcterms:W3CDTF">2026-02-17T16:32:30Z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TC101671251033</vt:lpwstr>
  </property>
</Properties>
</file>