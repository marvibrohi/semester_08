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>
  <p:sldMasterIdLst>
    <p:sldMasterId id="2147483694" r:id="rId2"/>
  </p:sldMasterIdLst>
  <p:notesMasterIdLst>
    <p:notesMasterId r:id="rId25"/>
  </p:notesMasterIdLst>
  <p:sldIdLst>
    <p:sldId id="256" r:id="rId3"/>
    <p:sldId id="315" r:id="rId4"/>
    <p:sldId id="316" r:id="rId5"/>
    <p:sldId id="341" r:id="rId6"/>
    <p:sldId id="342" r:id="rId7"/>
    <p:sldId id="317" r:id="rId8"/>
    <p:sldId id="343" r:id="rId9"/>
    <p:sldId id="344" r:id="rId10"/>
    <p:sldId id="345" r:id="rId11"/>
    <p:sldId id="346" r:id="rId12"/>
    <p:sldId id="347" r:id="rId13"/>
    <p:sldId id="348" r:id="rId14"/>
    <p:sldId id="349" r:id="rId15"/>
    <p:sldId id="350" r:id="rId16"/>
    <p:sldId id="351" r:id="rId17"/>
    <p:sldId id="352" r:id="rId18"/>
    <p:sldId id="353" r:id="rId19"/>
    <p:sldId id="354" r:id="rId20"/>
    <p:sldId id="355" r:id="rId21"/>
    <p:sldId id="356" r:id="rId22"/>
    <p:sldId id="357" r:id="rId23"/>
    <p:sldId id="358" r:id="rId24"/>
  </p:sldIdLst>
  <p:sldSz cx="12192000" cy="6858000"/>
  <p:notesSz cx="6858000" cy="9144000"/>
  <p:defaultTextStyle>
    <a:defPPr>
      <a:defRPr lang="en-US"/>
    </a:defPPr>
    <a:lvl1pPr marL="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63" autoAdjust="0"/>
    <p:restoredTop sz="94660"/>
  </p:normalViewPr>
  <p:slideViewPr>
    <p:cSldViewPr>
      <p:cViewPr varScale="1">
        <p:scale>
          <a:sx n="68" d="100"/>
          <a:sy n="68" d="100"/>
        </p:scale>
        <p:origin x="78" y="11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r">
              <a:defRPr sz="1200"/>
            </a:lvl1pPr>
          </a:lstStyle>
          <a:p>
            <a:fld id="{2447E72A-D913-4DC2-9E0A-E520CE8FCC86}" type="datetimeFigureOut">
              <a:rPr lang="en-US" smtClean="0"/>
              <a:pPr/>
              <a:t>2/17/2026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r">
              <a:defRPr sz="1200"/>
            </a:lvl1pPr>
          </a:lstStyle>
          <a:p>
            <a:fld id="{A5D78FC6-CE17-4259-A63C-DDFC12E048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6996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rtl="0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D78FC6-CE17-4259-A63C-DDFC12E048FC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9784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white">
          <a:xfrm>
            <a:off x="0" y="5971032"/>
            <a:ext cx="12192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/>
          </a:p>
        </p:txBody>
      </p:sp>
      <p:sp>
        <p:nvSpPr>
          <p:cNvPr id="10" name="Rectangle 9"/>
          <p:cNvSpPr/>
          <p:nvPr/>
        </p:nvSpPr>
        <p:spPr>
          <a:xfrm>
            <a:off x="-12192" y="6053328"/>
            <a:ext cx="2999232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/>
          </a:p>
        </p:txBody>
      </p:sp>
      <p:sp>
        <p:nvSpPr>
          <p:cNvPr id="11" name="Rectangle 10"/>
          <p:cNvSpPr/>
          <p:nvPr/>
        </p:nvSpPr>
        <p:spPr>
          <a:xfrm>
            <a:off x="3145536" y="6044184"/>
            <a:ext cx="90464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149600" y="4038600"/>
            <a:ext cx="8636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3149600" y="6050037"/>
            <a:ext cx="89408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101600" y="6068699"/>
            <a:ext cx="27432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pPr algn="ctr"/>
            <a:r>
              <a:rPr lang="en-US" smtClean="0"/>
              <a:t>‹#›</a:t>
            </a:r>
            <a:endParaRPr lang="en-US" sz="2000" dirty="0">
              <a:solidFill>
                <a:srgbClr val="FFFFFF"/>
              </a:solidFill>
            </a:endParaRPr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780524" y="236539"/>
            <a:ext cx="78232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pPr algn="r"/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0668000" y="228600"/>
            <a:ext cx="11176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2AC53DF-4216-466D-99A7-94400E6C2A25}" type="slidenum">
              <a:rPr lang="en-US" smtClean="0"/>
              <a:pPr/>
              <a:t>‹#›</a:t>
            </a:fld>
            <a:endParaRPr 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6864" y="228600"/>
            <a:ext cx="10871200" cy="9906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‹#›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AD93096-5B34-4342-9326-69289CEAE4C2}" type="slidenum">
              <a:rPr lang="en-US" smtClean="0"/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816864" y="1600200"/>
            <a:ext cx="10871200" cy="4495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28801" y="2743200"/>
            <a:ext cx="9497484" cy="1673225"/>
          </a:xfrm>
        </p:spPr>
        <p:txBody>
          <a:bodyPr anchor="t"/>
          <a:lstStyle>
            <a:lvl1pPr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0" y="1524000"/>
            <a:ext cx="12192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/>
          </a:p>
        </p:txBody>
      </p:sp>
      <p:sp>
        <p:nvSpPr>
          <p:cNvPr id="8" name="Rectangle 7"/>
          <p:cNvSpPr/>
          <p:nvPr/>
        </p:nvSpPr>
        <p:spPr>
          <a:xfrm>
            <a:off x="0" y="1600200"/>
            <a:ext cx="17272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/>
          </a:p>
        </p:txBody>
      </p:sp>
      <p:sp>
        <p:nvSpPr>
          <p:cNvPr id="9" name="Rectangle 8"/>
          <p:cNvSpPr/>
          <p:nvPr/>
        </p:nvSpPr>
        <p:spPr>
          <a:xfrm>
            <a:off x="1828800" y="1600200"/>
            <a:ext cx="103632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0" y="1600200"/>
            <a:ext cx="1016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‹#›</a:t>
            </a:r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7272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 algn="ctr"/>
            <a:fld id="{1AD93096-5B34-4342-9326-69289CEAE4C2}" type="slidenum">
              <a:rPr lang="en-US" smtClean="0"/>
              <a:pPr algn="ctr"/>
              <a:t>‹#›</a:t>
            </a:fld>
            <a:endParaRPr lang="en-US" sz="2400" dirty="0">
              <a:solidFill>
                <a:srgbClr val="FFFFFF"/>
              </a:solidFill>
            </a:endParaRPr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812800" y="1589567"/>
            <a:ext cx="5181600" cy="4572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459868" y="1589567"/>
            <a:ext cx="5181600" cy="4572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r>
              <a:rPr lang="en-US" smtClean="0"/>
              <a:t>‹#›</a:t>
            </a:r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algn="ctr"/>
            <a:fld id="{1AD93096-5B34-4342-9326-69289CEAE4C2}" type="slidenum">
              <a:rPr lang="en-US" smtClean="0"/>
              <a:pPr algn="ctr"/>
              <a:t>‹#›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200" y="273050"/>
            <a:ext cx="108712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812800" y="2438400"/>
            <a:ext cx="5181600" cy="35814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6400800" y="2438400"/>
            <a:ext cx="5181600" cy="35814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r>
              <a:rPr lang="en-US" smtClean="0"/>
              <a:t>‹#›</a:t>
            </a:r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algn="ctr"/>
            <a:fld id="{1AD93096-5B34-4342-9326-69289CEAE4C2}" type="slidenum">
              <a:rPr lang="en-US" smtClean="0"/>
              <a:pPr algn="ctr"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812800" y="1752600"/>
            <a:ext cx="51816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6400800" y="1752600"/>
            <a:ext cx="51816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‹#›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AD93096-5B34-4342-9326-69289CEAE4C2}" type="slidenum">
              <a:rPr lang="en-US" smtClean="0"/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‹#›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711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AD93096-5B34-4342-9326-69289CEAE4C2}" type="slidenum">
              <a:rPr lang="en-US" smtClean="0"/>
              <a:pPr/>
              <a:t>‹#›</a:t>
            </a:fld>
            <a:endParaRPr 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273050"/>
            <a:ext cx="107696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‹#›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AD93096-5B34-4342-9326-69289CEAE4C2}" type="slidenum">
              <a:rPr lang="en-US" smtClean="0"/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812800" y="1752600"/>
            <a:ext cx="10871200" cy="4419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33600" y="5486400"/>
            <a:ext cx="97536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Rectangle 7"/>
          <p:cNvSpPr/>
          <p:nvPr/>
        </p:nvSpPr>
        <p:spPr bwMode="white">
          <a:xfrm>
            <a:off x="-12192" y="4572000"/>
            <a:ext cx="12192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/>
          </a:p>
        </p:txBody>
      </p:sp>
      <p:sp>
        <p:nvSpPr>
          <p:cNvPr id="9" name="Rectangle 8"/>
          <p:cNvSpPr/>
          <p:nvPr/>
        </p:nvSpPr>
        <p:spPr>
          <a:xfrm>
            <a:off x="-12192" y="4663440"/>
            <a:ext cx="195072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/>
          </a:p>
        </p:txBody>
      </p:sp>
      <p:sp>
        <p:nvSpPr>
          <p:cNvPr id="10" name="Rectangle 9"/>
          <p:cNvSpPr/>
          <p:nvPr/>
        </p:nvSpPr>
        <p:spPr>
          <a:xfrm>
            <a:off x="2060448" y="4654296"/>
            <a:ext cx="10131552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3600" y="4648200"/>
            <a:ext cx="97536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Rectangle 10"/>
          <p:cNvSpPr/>
          <p:nvPr/>
        </p:nvSpPr>
        <p:spPr bwMode="white">
          <a:xfrm>
            <a:off x="1930400" y="0"/>
            <a:ext cx="134112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8331200" y="6248401"/>
            <a:ext cx="3556000" cy="365125"/>
          </a:xfrm>
        </p:spPr>
        <p:txBody>
          <a:bodyPr rtlCol="0"/>
          <a:lstStyle/>
          <a:p>
            <a:r>
              <a:rPr lang="en-US" smtClean="0"/>
              <a:t>‹#›</a:t>
            </a:r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930400" cy="663578"/>
          </a:xfrm>
        </p:spPr>
        <p:txBody>
          <a:bodyPr rtlCol="0"/>
          <a:lstStyle>
            <a:lvl1pPr>
              <a:defRPr sz="2800"/>
            </a:lvl1pPr>
          </a:lstStyle>
          <a:p>
            <a:pPr algn="ctr"/>
            <a:fld id="{1AD93096-5B34-4342-9326-69289CEAE4C2}" type="slidenum">
              <a:rPr lang="en-US" smtClean="0"/>
              <a:pPr algn="ctr"/>
              <a:t>‹#›</a:t>
            </a:fld>
            <a:endParaRPr lang="en-US" sz="2800" dirty="0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2133600" y="6248207"/>
            <a:ext cx="6096000" cy="365125"/>
          </a:xfrm>
        </p:spPr>
        <p:txBody>
          <a:bodyPr rtlCol="0"/>
          <a:lstStyle/>
          <a:p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080768" y="0"/>
            <a:ext cx="10111232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>
                <a:solidFill>
                  <a:schemeClr val="tx2"/>
                </a:solidFill>
              </a:rPr>
              <a:t>‹#›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C53DF-4216-466D-99A7-94400E6C2A25}" type="slidenum">
              <a:rPr lang="en-US" sz="1200" smtClean="0">
                <a:solidFill>
                  <a:schemeClr val="tx2"/>
                </a:solidFill>
              </a:rPr>
              <a:pPr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37600" y="609601"/>
            <a:ext cx="2743200" cy="551656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609600"/>
            <a:ext cx="7416800" cy="551656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737600" y="6248403"/>
            <a:ext cx="2946400" cy="365125"/>
          </a:xfrm>
        </p:spPr>
        <p:txBody>
          <a:bodyPr/>
          <a:lstStyle/>
          <a:p>
            <a:r>
              <a:rPr lang="en-US" smtClean="0">
                <a:solidFill>
                  <a:schemeClr val="tx2"/>
                </a:solidFill>
              </a:rPr>
              <a:t>‹#›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09602" y="6248208"/>
            <a:ext cx="7431311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 bwMode="white">
          <a:xfrm>
            <a:off x="8128424" y="0"/>
            <a:ext cx="42672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Rectangle 7"/>
          <p:cNvSpPr/>
          <p:nvPr/>
        </p:nvSpPr>
        <p:spPr>
          <a:xfrm>
            <a:off x="8189384" y="609600"/>
            <a:ext cx="3048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Rectangle 8"/>
          <p:cNvSpPr/>
          <p:nvPr/>
        </p:nvSpPr>
        <p:spPr>
          <a:xfrm>
            <a:off x="8189384" y="0"/>
            <a:ext cx="3048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8075084" y="103716"/>
            <a:ext cx="533400" cy="325968"/>
          </a:xfrm>
        </p:spPr>
        <p:txBody>
          <a:bodyPr/>
          <a:lstStyle/>
          <a:p>
            <a:fld id="{72AC53DF-4216-466D-99A7-94400E6C2A25}" type="slidenum">
              <a:rPr lang="en-US" sz="1200" smtClean="0">
                <a:solidFill>
                  <a:schemeClr val="tx2"/>
                </a:solidFill>
              </a:rPr>
              <a:pPr/>
              <a:t>‹#›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812800" y="228600"/>
            <a:ext cx="108712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816864" y="1600200"/>
            <a:ext cx="108712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8128000" y="6248401"/>
            <a:ext cx="3556000" cy="365125"/>
          </a:xfrm>
          <a:prstGeom prst="rect">
            <a:avLst/>
          </a:prstGeom>
        </p:spPr>
        <p:txBody>
          <a:bodyPr vert="horz" anchor="ctr" anchorCtr="0"/>
          <a:lstStyle>
            <a:lvl1pPr algn="l"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 smtClean="0">
                <a:solidFill>
                  <a:schemeClr val="tx2"/>
                </a:solidFill>
              </a:rPr>
              <a:t>‹#›</a:t>
            </a:r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812801" y="6248207"/>
            <a:ext cx="7228111" cy="365125"/>
          </a:xfrm>
          <a:prstGeom prst="rect">
            <a:avLst/>
          </a:prstGeom>
        </p:spPr>
        <p:txBody>
          <a:bodyPr vert="horz" anchor="ctr"/>
          <a:lstStyle>
            <a:lvl1pPr algn="r">
              <a:defRPr sz="1400">
                <a:solidFill>
                  <a:schemeClr val="tx2"/>
                </a:solidFill>
              </a:defRPr>
            </a:lvl1pPr>
          </a:lstStyle>
          <a:p>
            <a:pPr algn="r"/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7" name="Rectangle 6"/>
          <p:cNvSpPr/>
          <p:nvPr/>
        </p:nvSpPr>
        <p:spPr bwMode="white">
          <a:xfrm>
            <a:off x="0" y="1234440"/>
            <a:ext cx="12192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/>
          </a:p>
        </p:txBody>
      </p:sp>
      <p:sp>
        <p:nvSpPr>
          <p:cNvPr id="8" name="Rectangle 7"/>
          <p:cNvSpPr/>
          <p:nvPr/>
        </p:nvSpPr>
        <p:spPr>
          <a:xfrm>
            <a:off x="0" y="1280160"/>
            <a:ext cx="7112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/>
          </a:p>
        </p:txBody>
      </p:sp>
      <p:sp>
        <p:nvSpPr>
          <p:cNvPr id="9" name="Rectangle 8"/>
          <p:cNvSpPr/>
          <p:nvPr/>
        </p:nvSpPr>
        <p:spPr>
          <a:xfrm>
            <a:off x="787400" y="1280160"/>
            <a:ext cx="1140460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7112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>
              <a:defRPr sz="1400" b="1">
                <a:solidFill>
                  <a:srgbClr val="FFFFFF"/>
                </a:solidFill>
              </a:defRPr>
            </a:lvl1pPr>
          </a:lstStyle>
          <a:p>
            <a:pPr algn="ctr"/>
            <a:fld id="{72AC53DF-4216-466D-99A7-94400E6C2A25}" type="slidenum">
              <a:rPr lang="en-US" sz="1200" smtClean="0">
                <a:solidFill>
                  <a:schemeClr val="tx2"/>
                </a:solidFill>
              </a:rPr>
              <a:pPr algn="ctr"/>
              <a:t>‹#›</a:t>
            </a:fld>
            <a:endParaRPr lang="en-US" sz="1400" b="1" dirty="0">
              <a:solidFill>
                <a:srgbClr val="FFFFFF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sz="4400" kern="1200">
          <a:solidFill>
            <a:srgbClr val="FF0000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sz="2400" kern="1200">
          <a:solidFill>
            <a:srgbClr val="002060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sz="2400" kern="1200">
          <a:solidFill>
            <a:srgbClr val="002060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sz="2400" kern="1200">
          <a:solidFill>
            <a:srgbClr val="002060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sz="2400" kern="1200">
          <a:solidFill>
            <a:srgbClr val="002060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sz="2400" kern="1200">
          <a:solidFill>
            <a:srgbClr val="002060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ctrTitle"/>
          </p:nvPr>
        </p:nvSpPr>
        <p:spPr>
          <a:xfrm>
            <a:off x="3124200" y="4343400"/>
            <a:ext cx="7162800" cy="1447800"/>
          </a:xfrm>
        </p:spPr>
        <p:txBody>
          <a:bodyPr>
            <a:normAutofit fontScale="90000"/>
          </a:bodyPr>
          <a:lstStyle/>
          <a:p>
            <a:pPr algn="r"/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Our </a:t>
            </a: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Color Vision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is </a:t>
            </a: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Limited (Chapter 5)</a:t>
            </a:r>
            <a:r>
              <a:rPr lang="en-US" sz="3600" dirty="0">
                <a:solidFill>
                  <a:schemeClr val="accent1">
                    <a:lumMod val="75000"/>
                  </a:schemeClr>
                </a:solidFill>
              </a:rPr>
              <a:t/>
            </a:r>
            <a:br>
              <a:rPr lang="en-US" sz="3600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sz="3600">
                <a:solidFill>
                  <a:schemeClr val="accent1">
                    <a:lumMod val="75000"/>
                  </a:schemeClr>
                </a:solidFill>
              </a:rPr>
              <a:t>Lecture 11-12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AD93096-5B34-4342-9326-69289CEAE4C2}" type="slidenum">
              <a:rPr lang="en-US" smtClean="0"/>
              <a:pPr/>
              <a:t>2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2057400" y="1600200"/>
            <a:ext cx="8232648" cy="5105400"/>
          </a:xfrm>
        </p:spPr>
        <p:txBody>
          <a:bodyPr>
            <a:normAutofit/>
          </a:bodyPr>
          <a:lstStyle/>
          <a:p>
            <a:r>
              <a:rPr lang="en-US" dirty="0" smtClean="0"/>
              <a:t>How </a:t>
            </a:r>
            <a:r>
              <a:rPr lang="en-US" dirty="0"/>
              <a:t>the human visual system </a:t>
            </a:r>
            <a:r>
              <a:rPr lang="en-US" dirty="0" smtClean="0"/>
              <a:t>(Sense of Sight) processes </a:t>
            </a:r>
            <a:r>
              <a:rPr lang="en-US" dirty="0"/>
              <a:t>color </a:t>
            </a:r>
            <a:r>
              <a:rPr lang="en-US" dirty="0" smtClean="0"/>
              <a:t>information and perceive colors</a:t>
            </a:r>
            <a:endParaRPr lang="en-US" dirty="0"/>
          </a:p>
          <a:p>
            <a:r>
              <a:rPr lang="en-US" dirty="0" smtClean="0"/>
              <a:t>What is significance </a:t>
            </a:r>
            <a:r>
              <a:rPr lang="en-US" dirty="0"/>
              <a:t>of understanding qualities of human color vision and </a:t>
            </a:r>
            <a:r>
              <a:rPr lang="en-US" dirty="0" smtClean="0"/>
              <a:t>are factors </a:t>
            </a:r>
            <a:r>
              <a:rPr lang="en-US" dirty="0"/>
              <a:t>affecting color perception 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600" dirty="0"/>
              <a:t>Our </a:t>
            </a:r>
            <a:r>
              <a:rPr lang="en-US" sz="2600" dirty="0"/>
              <a:t>vision is optimized to detect contrasts (edges), not absolute </a:t>
            </a:r>
            <a:r>
              <a:rPr lang="en-US" sz="2600" dirty="0"/>
              <a:t>brightness</a:t>
            </a:r>
            <a:endParaRPr lang="en-US" sz="2600" dirty="0"/>
          </a:p>
          <a:p>
            <a:pPr marL="514350" indent="-514350">
              <a:buFont typeface="+mj-lt"/>
              <a:buAutoNum type="arabicPeriod"/>
            </a:pPr>
            <a:r>
              <a:rPr lang="en-US" sz="2600" dirty="0"/>
              <a:t>Our </a:t>
            </a:r>
            <a:r>
              <a:rPr lang="en-US" sz="2600" dirty="0"/>
              <a:t>ability to distinguish colors depends on how colors are presented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600" dirty="0"/>
              <a:t>Display technologies/resolution and </a:t>
            </a:r>
            <a:r>
              <a:rPr lang="en-US" sz="2600" dirty="0"/>
              <a:t>viewing conditions 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600" dirty="0"/>
              <a:t>Some </a:t>
            </a:r>
            <a:r>
              <a:rPr lang="en-US" sz="2600" dirty="0"/>
              <a:t>people </a:t>
            </a:r>
            <a:r>
              <a:rPr lang="en-US" sz="2600" dirty="0"/>
              <a:t>may have color-blindness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600" dirty="0"/>
              <a:t>External factors such as sunlight, ambient light</a:t>
            </a:r>
            <a:endParaRPr lang="en-US" sz="26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20267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Color Vision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AD93096-5B34-4342-9326-69289CEAE4C2}" type="slidenum">
              <a:rPr lang="en-US" smtClean="0"/>
              <a:pPr/>
              <a:t>3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2136648" y="1600200"/>
            <a:ext cx="8302752" cy="5105400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 smtClean="0"/>
              <a:t>Human eye</a:t>
            </a:r>
            <a:r>
              <a:rPr lang="en-US" dirty="0" smtClean="0"/>
              <a:t> – light receptor cells</a:t>
            </a:r>
          </a:p>
          <a:p>
            <a:r>
              <a:rPr lang="en-US" b="1" dirty="0" smtClean="0"/>
              <a:t>Rods</a:t>
            </a:r>
          </a:p>
          <a:p>
            <a:pPr lvl="1"/>
            <a:r>
              <a:rPr lang="en-US" dirty="0"/>
              <a:t>Rods deals with </a:t>
            </a:r>
            <a:r>
              <a:rPr lang="en-US" dirty="0" smtClean="0"/>
              <a:t>low </a:t>
            </a:r>
            <a:r>
              <a:rPr lang="en-US" dirty="0"/>
              <a:t>light </a:t>
            </a:r>
            <a:r>
              <a:rPr lang="en-US" dirty="0" smtClean="0"/>
              <a:t>vision (Night Light/Darkness)</a:t>
            </a:r>
            <a:endParaRPr lang="en-US" dirty="0"/>
          </a:p>
          <a:p>
            <a:pPr lvl="1"/>
            <a:r>
              <a:rPr lang="en-US" dirty="0"/>
              <a:t>Rods are sensitive to overall </a:t>
            </a:r>
            <a:r>
              <a:rPr lang="en-US" dirty="0" smtClean="0"/>
              <a:t>brightness exists in low light vision </a:t>
            </a:r>
            <a:endParaRPr lang="en-US" dirty="0"/>
          </a:p>
          <a:p>
            <a:r>
              <a:rPr lang="en-US" b="1" dirty="0" smtClean="0"/>
              <a:t>Cones</a:t>
            </a:r>
            <a:r>
              <a:rPr lang="en-US" dirty="0" smtClean="0"/>
              <a:t>  </a:t>
            </a:r>
          </a:p>
          <a:p>
            <a:pPr lvl="1"/>
            <a:r>
              <a:rPr lang="en-US" dirty="0"/>
              <a:t>Cones deals with color </a:t>
            </a:r>
            <a:r>
              <a:rPr lang="en-US" dirty="0" smtClean="0"/>
              <a:t>vision i.e. high light vision (Day Light) </a:t>
            </a:r>
            <a:endParaRPr lang="en-US" dirty="0"/>
          </a:p>
          <a:p>
            <a:pPr lvl="1"/>
            <a:r>
              <a:rPr lang="en-US" dirty="0"/>
              <a:t>Cones are sensitive to </a:t>
            </a:r>
            <a:r>
              <a:rPr lang="en-US" dirty="0" smtClean="0"/>
              <a:t>different </a:t>
            </a:r>
            <a:r>
              <a:rPr lang="en-US" dirty="0"/>
              <a:t>types of colors </a:t>
            </a:r>
          </a:p>
          <a:p>
            <a:pPr lvl="1"/>
            <a:r>
              <a:rPr lang="en-US" dirty="0" smtClean="0"/>
              <a:t>Red, Green, and Blue</a:t>
            </a:r>
          </a:p>
          <a:p>
            <a:pPr marL="320040" lvl="1" indent="-320040">
              <a:spcBef>
                <a:spcPts val="700"/>
              </a:spcBef>
              <a:buClr>
                <a:schemeClr val="accent2"/>
              </a:buClr>
              <a:buSzPct val="60000"/>
              <a:buFont typeface="Wingdings"/>
              <a:buChar char=""/>
            </a:pPr>
            <a:r>
              <a:rPr lang="en-US" sz="2900" b="1" dirty="0"/>
              <a:t>Three types of cones i.e. sensitive </a:t>
            </a:r>
            <a:r>
              <a:rPr lang="en-US" sz="2900" b="1" dirty="0"/>
              <a:t>to </a:t>
            </a:r>
            <a:r>
              <a:rPr lang="en-US" sz="2900" b="1" dirty="0"/>
              <a:t>a wide range </a:t>
            </a:r>
            <a:r>
              <a:rPr lang="en-US" sz="2900" b="1" dirty="0"/>
              <a:t>of </a:t>
            </a:r>
            <a:r>
              <a:rPr lang="en-US" sz="2900" b="1" dirty="0"/>
              <a:t>different colors based on light frequency</a:t>
            </a:r>
            <a:r>
              <a:rPr lang="en-US" sz="2900" dirty="0"/>
              <a:t> </a:t>
            </a:r>
            <a:endParaRPr lang="en-US" sz="2900" dirty="0"/>
          </a:p>
          <a:p>
            <a:pPr lvl="1"/>
            <a:r>
              <a:rPr lang="en-US" dirty="0" smtClean="0"/>
              <a:t>Low frequency cones – yellow and red</a:t>
            </a:r>
          </a:p>
          <a:p>
            <a:pPr lvl="1"/>
            <a:r>
              <a:rPr lang="en-US" dirty="0" smtClean="0"/>
              <a:t>Medium frequency cones – blue and orange</a:t>
            </a:r>
          </a:p>
          <a:p>
            <a:pPr lvl="1"/>
            <a:r>
              <a:rPr lang="en-US" dirty="0" smtClean="0"/>
              <a:t>High frequency cones – violet and blue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90463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Edge Contrast [1/2]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AD93096-5B34-4342-9326-69289CEAE4C2}" type="slidenum">
              <a:rPr lang="en-US" smtClean="0"/>
              <a:pPr/>
              <a:t>4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895" y="1600200"/>
            <a:ext cx="10830169" cy="449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1600200" y="6627168"/>
            <a:ext cx="35052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Figure Source: Designing with the Mind in Mind, J. Johnson, 2</a:t>
            </a:r>
            <a:r>
              <a:rPr lang="en-US" sz="900" baseline="30000" dirty="0"/>
              <a:t>nd</a:t>
            </a:r>
            <a:r>
              <a:rPr lang="en-US" sz="900" dirty="0"/>
              <a:t> Ed. P. 55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0671862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Edge Contrast [2/2]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AD93096-5B34-4342-9326-69289CEAE4C2}" type="slidenum">
              <a:rPr lang="en-US" smtClean="0"/>
              <a:pPr/>
              <a:t>5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600200" y="6627168"/>
            <a:ext cx="35052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Figure Source: Designing with the Mind in Mind, J. Johnson, 2</a:t>
            </a:r>
            <a:r>
              <a:rPr lang="en-US" sz="900" baseline="30000" dirty="0"/>
              <a:t>nd</a:t>
            </a:r>
            <a:r>
              <a:rPr lang="en-US" sz="900" dirty="0"/>
              <a:t> Ed. P. 56</a:t>
            </a:r>
            <a:endParaRPr lang="en-US" sz="9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864" y="1516698"/>
            <a:ext cx="10994136" cy="45318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358443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Ability to Discriminate Colors [1/6]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AD93096-5B34-4342-9326-69289CEAE4C2}" type="slidenum">
              <a:rPr lang="en-US" smtClean="0"/>
              <a:pPr/>
              <a:t>6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Depends on color presentation</a:t>
            </a:r>
          </a:p>
          <a:p>
            <a:r>
              <a:rPr lang="en-US" dirty="0" smtClean="0"/>
              <a:t>Paleness</a:t>
            </a:r>
          </a:p>
          <a:p>
            <a:pPr lvl="1"/>
            <a:r>
              <a:rPr lang="en-US" dirty="0" smtClean="0"/>
              <a:t>Less saturated</a:t>
            </a:r>
          </a:p>
          <a:p>
            <a:r>
              <a:rPr lang="en-US" dirty="0" smtClean="0"/>
              <a:t>Color patch size</a:t>
            </a:r>
          </a:p>
          <a:p>
            <a:pPr lvl="1"/>
            <a:r>
              <a:rPr lang="en-US" dirty="0" smtClean="0"/>
              <a:t>Thin objects</a:t>
            </a:r>
          </a:p>
          <a:p>
            <a:r>
              <a:rPr lang="en-US" dirty="0" smtClean="0"/>
              <a:t>Separation</a:t>
            </a:r>
          </a:p>
          <a:p>
            <a:pPr lvl="1"/>
            <a:r>
              <a:rPr lang="en-US" dirty="0" smtClean="0"/>
              <a:t>Distant objects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62482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Ability to Discriminate Colors </a:t>
            </a:r>
            <a:r>
              <a:rPr lang="en-US" dirty="0" smtClean="0"/>
              <a:t>[2/6</a:t>
            </a:r>
            <a:r>
              <a:rPr lang="en-US" dirty="0"/>
              <a:t>]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AD93096-5B34-4342-9326-69289CEAE4C2}" type="slidenum">
              <a:rPr lang="en-US" smtClean="0"/>
              <a:pPr/>
              <a:t>7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600200" y="6627168"/>
            <a:ext cx="35052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Figure Source: Designing with the Mind in Mind, J. Johnson, 2</a:t>
            </a:r>
            <a:r>
              <a:rPr lang="en-US" sz="900" baseline="30000" dirty="0"/>
              <a:t>nd</a:t>
            </a:r>
            <a:r>
              <a:rPr lang="en-US" sz="900" dirty="0"/>
              <a:t> Ed. P. 57</a:t>
            </a:r>
            <a:endParaRPr lang="en-US" sz="9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2438400"/>
            <a:ext cx="10871200" cy="251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25651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Ability to Discriminate Colors </a:t>
            </a:r>
            <a:r>
              <a:rPr lang="en-US" dirty="0" smtClean="0"/>
              <a:t>[3/6</a:t>
            </a:r>
            <a:r>
              <a:rPr lang="en-US" dirty="0"/>
              <a:t>]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AD93096-5B34-4342-9326-69289CEAE4C2}" type="slidenum">
              <a:rPr lang="en-US" smtClean="0"/>
              <a:pPr/>
              <a:t>8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600200" y="6627168"/>
            <a:ext cx="35052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Figure Source: Designing with the Mind in Mind, J. Johnson, 2</a:t>
            </a:r>
            <a:r>
              <a:rPr lang="en-US" sz="900" baseline="30000" dirty="0"/>
              <a:t>nd</a:t>
            </a:r>
            <a:r>
              <a:rPr lang="en-US" sz="900" dirty="0"/>
              <a:t> Ed. P. 57</a:t>
            </a:r>
            <a:endParaRPr lang="en-US" sz="9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7064" y="2895600"/>
            <a:ext cx="10210800" cy="20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816325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Ability to Discriminate Colors </a:t>
            </a:r>
            <a:r>
              <a:rPr lang="en-US" dirty="0" smtClean="0"/>
              <a:t>[4/6</a:t>
            </a:r>
            <a:r>
              <a:rPr lang="en-US" dirty="0"/>
              <a:t>]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AD93096-5B34-4342-9326-69289CEAE4C2}" type="slidenum">
              <a:rPr lang="en-US" smtClean="0"/>
              <a:pPr/>
              <a:t>9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600200" y="6627168"/>
            <a:ext cx="35052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Figure Source: Designing with the Mind in Mind, J. Johnson, 2</a:t>
            </a:r>
            <a:r>
              <a:rPr lang="en-US" sz="900" baseline="30000" dirty="0"/>
              <a:t>nd</a:t>
            </a:r>
            <a:r>
              <a:rPr lang="en-US" sz="900" dirty="0"/>
              <a:t> Ed. P. 57</a:t>
            </a:r>
            <a:endParaRPr lang="en-US" sz="900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200" y="1866900"/>
            <a:ext cx="11099800" cy="445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868387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Ability to Discriminate Colors </a:t>
            </a:r>
            <a:r>
              <a:rPr lang="en-US" dirty="0" smtClean="0"/>
              <a:t>[5/6</a:t>
            </a:r>
            <a:r>
              <a:rPr lang="en-US" dirty="0"/>
              <a:t>]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AD93096-5B34-4342-9326-69289CEAE4C2}" type="slidenum">
              <a:rPr lang="en-US" smtClean="0"/>
              <a:pPr/>
              <a:t>10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600200" y="6627168"/>
            <a:ext cx="35052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Figure Source: Designing with the Mind in Mind, J. Johnson, 2</a:t>
            </a:r>
            <a:r>
              <a:rPr lang="en-US" sz="900" baseline="30000" dirty="0"/>
              <a:t>nd</a:t>
            </a:r>
            <a:r>
              <a:rPr lang="en-US" sz="900" dirty="0"/>
              <a:t> Ed. P. 58</a:t>
            </a:r>
            <a:endParaRPr lang="en-US" sz="900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864" y="1981201"/>
            <a:ext cx="10871199" cy="44195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890200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Ability to Discriminate Colors </a:t>
            </a:r>
            <a:r>
              <a:rPr lang="en-US" dirty="0" smtClean="0"/>
              <a:t>[6/6</a:t>
            </a:r>
            <a:r>
              <a:rPr lang="en-US" dirty="0"/>
              <a:t>]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AD93096-5B34-4342-9326-69289CEAE4C2}" type="slidenum">
              <a:rPr lang="en-US" smtClean="0"/>
              <a:pPr/>
              <a:t>11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600200" y="6627168"/>
            <a:ext cx="35052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Figure Source: Designing with the Mind in Mind, J. Johnson, 2</a:t>
            </a:r>
            <a:r>
              <a:rPr lang="en-US" sz="900" baseline="30000" dirty="0"/>
              <a:t>nd</a:t>
            </a:r>
            <a:r>
              <a:rPr lang="en-US" sz="900" dirty="0"/>
              <a:t> Ed. P. 58</a:t>
            </a:r>
            <a:endParaRPr lang="en-US" sz="900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1830066"/>
            <a:ext cx="10697464" cy="41862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181335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Color </a:t>
            </a:r>
            <a:r>
              <a:rPr lang="en-US" dirty="0"/>
              <a:t>Blindness </a:t>
            </a:r>
            <a:r>
              <a:rPr lang="en-US" dirty="0" smtClean="0"/>
              <a:t>[1/3]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AD93096-5B34-4342-9326-69289CEAE4C2}" type="slidenum">
              <a:rPr lang="en-US" smtClean="0"/>
              <a:pPr/>
              <a:t>12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Vision deficit/deficiency</a:t>
            </a:r>
          </a:p>
          <a:p>
            <a:r>
              <a:rPr lang="en-US" dirty="0" smtClean="0"/>
              <a:t>Difficulty to distinguish colors</a:t>
            </a:r>
          </a:p>
          <a:p>
            <a:r>
              <a:rPr lang="en-US" dirty="0" smtClean="0"/>
              <a:t>8% of men and 0.5% of women have vision deficiency</a:t>
            </a:r>
          </a:p>
          <a:p>
            <a:r>
              <a:rPr lang="en-US" dirty="0" smtClean="0"/>
              <a:t>Most common deficiency – Red/green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4599" y="3200400"/>
            <a:ext cx="5732497" cy="34548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1600200" y="6627168"/>
            <a:ext cx="35052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Figure Source: Designing with the Mind in Mind, J. Johnson, 2</a:t>
            </a:r>
            <a:r>
              <a:rPr lang="en-US" sz="900" baseline="30000" dirty="0"/>
              <a:t>nd</a:t>
            </a:r>
            <a:r>
              <a:rPr lang="en-US" sz="900" dirty="0"/>
              <a:t> Ed. P. 59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0257384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Color </a:t>
            </a:r>
            <a:r>
              <a:rPr lang="en-US" dirty="0"/>
              <a:t>Blindness </a:t>
            </a:r>
            <a:r>
              <a:rPr lang="en-US" dirty="0" smtClean="0"/>
              <a:t>[2/3</a:t>
            </a:r>
            <a:r>
              <a:rPr lang="en-US" dirty="0"/>
              <a:t>]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AD93096-5B34-4342-9326-69289CEAE4C2}" type="slidenum">
              <a:rPr lang="en-US" smtClean="0"/>
              <a:pPr/>
              <a:t>13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600200" y="6627168"/>
            <a:ext cx="35052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Figure Source: Designing with the Mind in Mind, J. Johnson, 2</a:t>
            </a:r>
            <a:r>
              <a:rPr lang="en-US" sz="900" baseline="30000" dirty="0"/>
              <a:t>nd</a:t>
            </a:r>
            <a:r>
              <a:rPr lang="en-US" sz="900" dirty="0"/>
              <a:t> Ed. P. 59</a:t>
            </a:r>
            <a:endParaRPr lang="en-US" sz="900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1716988"/>
            <a:ext cx="8534400" cy="4760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370977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Color </a:t>
            </a:r>
            <a:r>
              <a:rPr lang="en-US" dirty="0"/>
              <a:t>Blindness </a:t>
            </a:r>
            <a:r>
              <a:rPr lang="en-US" dirty="0" smtClean="0"/>
              <a:t>[3/3</a:t>
            </a:r>
            <a:r>
              <a:rPr lang="en-US" dirty="0"/>
              <a:t>]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AD93096-5B34-4342-9326-69289CEAE4C2}" type="slidenum">
              <a:rPr lang="en-US" smtClean="0"/>
              <a:pPr/>
              <a:t>14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600200" y="6627168"/>
            <a:ext cx="35052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Figure Source: Designing with the Mind in Mind, J. Johnson, 2</a:t>
            </a:r>
            <a:r>
              <a:rPr lang="en-US" sz="900" baseline="30000" dirty="0"/>
              <a:t>nd</a:t>
            </a:r>
            <a:r>
              <a:rPr lang="en-US" sz="900" dirty="0"/>
              <a:t> Ed. P. 60</a:t>
            </a:r>
            <a:endParaRPr lang="en-US" sz="900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2419349"/>
            <a:ext cx="9525000" cy="4009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541590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External Factors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AD93096-5B34-4342-9326-69289CEAE4C2}" type="slidenum">
              <a:rPr lang="en-US" smtClean="0"/>
              <a:pPr/>
              <a:t>15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Variation among color displays</a:t>
            </a:r>
          </a:p>
          <a:p>
            <a:pPr lvl="1"/>
            <a:r>
              <a:rPr lang="en-US" dirty="0" smtClean="0"/>
              <a:t>Technology, software, color setting</a:t>
            </a:r>
          </a:p>
          <a:p>
            <a:pPr lvl="1"/>
            <a:r>
              <a:rPr lang="en-US" dirty="0" smtClean="0"/>
              <a:t>Same model may have different colors</a:t>
            </a:r>
          </a:p>
          <a:p>
            <a:r>
              <a:rPr lang="en-US" dirty="0" smtClean="0"/>
              <a:t>Grayscale displays</a:t>
            </a:r>
          </a:p>
          <a:p>
            <a:pPr lvl="1"/>
            <a:r>
              <a:rPr lang="en-US" dirty="0" smtClean="0"/>
              <a:t>Difficult to differentiate similar colors</a:t>
            </a:r>
          </a:p>
          <a:p>
            <a:r>
              <a:rPr lang="en-US" dirty="0" smtClean="0"/>
              <a:t>Display angle</a:t>
            </a:r>
          </a:p>
          <a:p>
            <a:pPr lvl="1"/>
            <a:r>
              <a:rPr lang="en-US" dirty="0" smtClean="0"/>
              <a:t>LCDs</a:t>
            </a:r>
          </a:p>
          <a:p>
            <a:r>
              <a:rPr lang="en-US" dirty="0" smtClean="0"/>
              <a:t>Ambient illuminations</a:t>
            </a:r>
          </a:p>
          <a:p>
            <a:pPr lvl="1"/>
            <a:r>
              <a:rPr lang="en-US" dirty="0" smtClean="0"/>
              <a:t>Strong light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47235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Guidelines for Using Colors [1/7]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AD93096-5B34-4342-9326-69289CEAE4C2}" type="slidenum">
              <a:rPr lang="en-US" smtClean="0"/>
              <a:pPr/>
              <a:t>16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Distinguish colors by saturation and brightness as well as </a:t>
            </a:r>
            <a:r>
              <a:rPr lang="en-US" dirty="0" smtClean="0"/>
              <a:t>hue</a:t>
            </a:r>
          </a:p>
          <a:p>
            <a:pPr lvl="1"/>
            <a:r>
              <a:rPr lang="en-US" dirty="0" smtClean="0"/>
              <a:t>Saturation: amount of whiteness in color</a:t>
            </a:r>
          </a:p>
          <a:p>
            <a:pPr lvl="1"/>
            <a:r>
              <a:rPr lang="en-US" dirty="0" smtClean="0"/>
              <a:t>Hue: Spectral wavelength of the light</a:t>
            </a:r>
          </a:p>
          <a:p>
            <a:pPr lvl="2"/>
            <a:r>
              <a:rPr lang="en-US" dirty="0"/>
              <a:t>Red: </a:t>
            </a:r>
            <a:r>
              <a:rPr lang="en-US" dirty="0" smtClean="0"/>
              <a:t>long, Green: medium, </a:t>
            </a:r>
            <a:r>
              <a:rPr lang="en-US" dirty="0"/>
              <a:t>Blue: short</a:t>
            </a:r>
            <a:endParaRPr lang="en-US" dirty="0" smtClean="0"/>
          </a:p>
          <a:p>
            <a:pPr lvl="1"/>
            <a:r>
              <a:rPr lang="en-US" dirty="0" smtClean="0"/>
              <a:t>High contrast is preferable</a:t>
            </a:r>
          </a:p>
          <a:p>
            <a:pPr lvl="1"/>
            <a:r>
              <a:rPr lang="en-US" dirty="0" smtClean="0"/>
              <a:t>Check colors in grayscale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95244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Guidelines for Using </a:t>
            </a:r>
            <a:r>
              <a:rPr lang="en-US" dirty="0"/>
              <a:t>Colors </a:t>
            </a:r>
            <a:r>
              <a:rPr lang="en-US" dirty="0" smtClean="0"/>
              <a:t>[2/7</a:t>
            </a:r>
            <a:r>
              <a:rPr lang="en-US" dirty="0"/>
              <a:t>]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AD93096-5B34-4342-9326-69289CEAE4C2}" type="slidenum">
              <a:rPr lang="en-US" smtClean="0"/>
              <a:pPr/>
              <a:t>17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Use distinctive colors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pPr lvl="1"/>
            <a:endParaRPr lang="en-US" dirty="0" smtClean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599" y="2743200"/>
            <a:ext cx="9230787" cy="182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1600200" y="6627168"/>
            <a:ext cx="35052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Figure Source: Designing with the Mind in Mind, J. Johnson, 2</a:t>
            </a:r>
            <a:r>
              <a:rPr lang="en-US" sz="900" baseline="30000" dirty="0"/>
              <a:t>nd</a:t>
            </a:r>
            <a:r>
              <a:rPr lang="en-US" sz="900" dirty="0"/>
              <a:t> Ed. P. 61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766436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Guidelines for Using </a:t>
            </a:r>
            <a:r>
              <a:rPr lang="en-US" dirty="0"/>
              <a:t>Colors </a:t>
            </a:r>
            <a:r>
              <a:rPr lang="en-US" dirty="0" smtClean="0"/>
              <a:t>[3/7</a:t>
            </a:r>
            <a:r>
              <a:rPr lang="en-US" dirty="0"/>
              <a:t>]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AD93096-5B34-4342-9326-69289CEAE4C2}" type="slidenum">
              <a:rPr lang="en-US" smtClean="0"/>
              <a:pPr/>
              <a:t>18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Avoid </a:t>
            </a:r>
            <a:r>
              <a:rPr lang="en-US" dirty="0"/>
              <a:t>color pairs that color-blind people cannot </a:t>
            </a:r>
            <a:r>
              <a:rPr lang="en-US" dirty="0" smtClean="0"/>
              <a:t>distinguish</a:t>
            </a:r>
          </a:p>
          <a:p>
            <a:pPr lvl="1"/>
            <a:r>
              <a:rPr lang="en-US" dirty="0" smtClean="0"/>
              <a:t>Dark </a:t>
            </a:r>
            <a:r>
              <a:rPr lang="en-US" dirty="0"/>
              <a:t>red versus black, dark red versus dark green, blue versus </a:t>
            </a:r>
            <a:r>
              <a:rPr lang="en-US" dirty="0" smtClean="0"/>
              <a:t>purple, light </a:t>
            </a:r>
            <a:r>
              <a:rPr lang="en-US" dirty="0"/>
              <a:t>green versus white</a:t>
            </a:r>
          </a:p>
          <a:p>
            <a:pPr lvl="1"/>
            <a:r>
              <a:rPr lang="en-US" dirty="0"/>
              <a:t>Don’t use dark reds, blues, or violets against any dark </a:t>
            </a:r>
            <a:r>
              <a:rPr lang="en-US" dirty="0" smtClean="0"/>
              <a:t>colors</a:t>
            </a:r>
          </a:p>
          <a:p>
            <a:pPr lvl="1"/>
            <a:r>
              <a:rPr lang="en-US" dirty="0" smtClean="0"/>
              <a:t>Use </a:t>
            </a:r>
            <a:r>
              <a:rPr lang="en-US" dirty="0"/>
              <a:t>dark reds, blues, and violets against light yellows and </a:t>
            </a:r>
            <a:r>
              <a:rPr lang="en-US" dirty="0" smtClean="0"/>
              <a:t>greens</a:t>
            </a:r>
          </a:p>
          <a:p>
            <a:pPr lvl="1"/>
            <a:r>
              <a:rPr lang="en-US" dirty="0" smtClean="0"/>
              <a:t>Vischeck.com</a:t>
            </a:r>
          </a:p>
        </p:txBody>
      </p:sp>
    </p:spTree>
    <p:extLst>
      <p:ext uri="{BB962C8B-B14F-4D97-AF65-F5344CB8AC3E}">
        <p14:creationId xmlns:p14="http://schemas.microsoft.com/office/powerpoint/2010/main" val="9816158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Guidelines for Using </a:t>
            </a:r>
            <a:r>
              <a:rPr lang="en-US" dirty="0"/>
              <a:t>Colors </a:t>
            </a:r>
            <a:r>
              <a:rPr lang="en-US" dirty="0" smtClean="0"/>
              <a:t>[4/7</a:t>
            </a:r>
            <a:r>
              <a:rPr lang="en-US" dirty="0"/>
              <a:t>]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AD93096-5B34-4342-9326-69289CEAE4C2}" type="slidenum">
              <a:rPr lang="en-US" smtClean="0"/>
              <a:pPr/>
              <a:t>19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Use </a:t>
            </a:r>
            <a:r>
              <a:rPr lang="en-US" dirty="0"/>
              <a:t>color redundantly with other </a:t>
            </a:r>
            <a:r>
              <a:rPr lang="en-US" dirty="0" smtClean="0"/>
              <a:t>cues</a:t>
            </a:r>
          </a:p>
          <a:p>
            <a:pPr lvl="1"/>
            <a:r>
              <a:rPr lang="en-US" dirty="0" smtClean="0"/>
              <a:t>Don’t rely on color alone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401" y="2895601"/>
            <a:ext cx="7315199" cy="19743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1600200" y="6627168"/>
            <a:ext cx="35052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Figure Source: Designing with the Mind in Mind, J. Johnson, 2</a:t>
            </a:r>
            <a:r>
              <a:rPr lang="en-US" sz="900" baseline="30000" dirty="0"/>
              <a:t>nd</a:t>
            </a:r>
            <a:r>
              <a:rPr lang="en-US" sz="900" dirty="0"/>
              <a:t> Ed. P. 62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8957358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Guidelines for Using </a:t>
            </a:r>
            <a:r>
              <a:rPr lang="en-US" dirty="0"/>
              <a:t>Colors </a:t>
            </a:r>
            <a:r>
              <a:rPr lang="en-US" dirty="0" smtClean="0"/>
              <a:t>[5/7</a:t>
            </a:r>
            <a:r>
              <a:rPr lang="en-US" dirty="0"/>
              <a:t>]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AD93096-5B34-4342-9326-69289CEAE4C2}" type="slidenum">
              <a:rPr lang="en-US" smtClean="0"/>
              <a:pPr/>
              <a:t>20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Separate strong opponent colors</a:t>
            </a:r>
          </a:p>
          <a:p>
            <a:pPr lvl="1"/>
            <a:r>
              <a:rPr lang="en-US" dirty="0" smtClean="0"/>
              <a:t>Don’t place opponent colors to next/top each other</a:t>
            </a:r>
          </a:p>
          <a:p>
            <a:pPr lvl="1"/>
            <a:endParaRPr lang="en-US" dirty="0" smtClean="0"/>
          </a:p>
        </p:txBody>
      </p:sp>
      <p:sp>
        <p:nvSpPr>
          <p:cNvPr id="6" name="TextBox 5"/>
          <p:cNvSpPr txBox="1"/>
          <p:nvPr/>
        </p:nvSpPr>
        <p:spPr>
          <a:xfrm>
            <a:off x="1600200" y="6627168"/>
            <a:ext cx="35052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Figure Source: Designing with the Mind in Mind, J. Johnson, 2</a:t>
            </a:r>
            <a:r>
              <a:rPr lang="en-US" sz="900" baseline="30000" dirty="0"/>
              <a:t>nd</a:t>
            </a:r>
            <a:r>
              <a:rPr lang="en-US" sz="900" dirty="0"/>
              <a:t> Ed. P. 62</a:t>
            </a:r>
            <a:endParaRPr lang="en-US" sz="900" dirty="0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4749" y="3181350"/>
            <a:ext cx="7214507" cy="1466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83269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Guidelines for Using </a:t>
            </a:r>
            <a:r>
              <a:rPr lang="en-US" dirty="0"/>
              <a:t>Colors </a:t>
            </a:r>
            <a:r>
              <a:rPr lang="en-US" dirty="0" smtClean="0"/>
              <a:t>[6/7</a:t>
            </a:r>
            <a:r>
              <a:rPr lang="en-US" dirty="0"/>
              <a:t>]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AD93096-5B34-4342-9326-69289CEAE4C2}" type="slidenum">
              <a:rPr lang="en-US" smtClean="0"/>
              <a:pPr/>
              <a:t>21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600200" y="6627168"/>
            <a:ext cx="35052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Figure Source: Designing with the Mind in Mind, J. Johnson, 2</a:t>
            </a:r>
            <a:r>
              <a:rPr lang="en-US" sz="900" baseline="30000" dirty="0"/>
              <a:t>nd</a:t>
            </a:r>
            <a:r>
              <a:rPr lang="en-US" sz="900" dirty="0"/>
              <a:t> Ed. P. 63</a:t>
            </a:r>
            <a:endParaRPr lang="en-US" sz="900" dirty="0"/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1376" y="2434939"/>
            <a:ext cx="9782175" cy="297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525428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Guidelines for Using </a:t>
            </a:r>
            <a:r>
              <a:rPr lang="en-US" dirty="0"/>
              <a:t>Colors </a:t>
            </a:r>
            <a:r>
              <a:rPr lang="en-US" dirty="0" smtClean="0"/>
              <a:t>[7/7</a:t>
            </a:r>
            <a:r>
              <a:rPr lang="en-US" dirty="0"/>
              <a:t>]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AD93096-5B34-4342-9326-69289CEAE4C2}" type="slidenum">
              <a:rPr lang="en-US" smtClean="0"/>
              <a:pPr/>
              <a:t>22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600200" y="6627168"/>
            <a:ext cx="35052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Figure Source: Designing with the Mind in Mind, J. Johnson, 2</a:t>
            </a:r>
            <a:r>
              <a:rPr lang="en-US" sz="900" baseline="30000" dirty="0"/>
              <a:t>nd</a:t>
            </a:r>
            <a:r>
              <a:rPr lang="en-US" sz="900" dirty="0"/>
              <a:t> Ed. P. 63</a:t>
            </a:r>
            <a:endParaRPr lang="en-US" sz="900" dirty="0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864" y="1885950"/>
            <a:ext cx="10308336" cy="436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952873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cademicPresentation3">
  <a:themeElements>
    <a:clrScheme name="Urban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0000"/>
                <a:satMod val="155000"/>
              </a:schemeClr>
            </a:gs>
            <a:gs pos="65000">
              <a:schemeClr val="phClr">
                <a:shade val="85000"/>
                <a:satMod val="155000"/>
              </a:schemeClr>
            </a:gs>
            <a:gs pos="100000">
              <a:schemeClr val="phClr">
                <a:shade val="95000"/>
                <a:satMod val="155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algn="tl" rotWithShape="0">
              <a:srgbClr val="000000">
                <a:alpha val="64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prstMaterial="matte">
            <a:bevelT h="22225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0000"/>
                <a:satMod val="155000"/>
              </a:schemeClr>
            </a:gs>
            <a:gs pos="35000">
              <a:schemeClr val="phClr">
                <a:shade val="75000"/>
                <a:satMod val="155000"/>
              </a:schemeClr>
            </a:gs>
            <a:gs pos="100000">
              <a:schemeClr val="phClr">
                <a:tint val="80000"/>
                <a:satMod val="255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7DDB1280-0676-4822-8A4D-E954834AE20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AcademicPresentation3</Template>
  <TotalTime>0</TotalTime>
  <Words>813</Words>
  <Application>Microsoft Office PowerPoint</Application>
  <PresentationFormat>Widescreen</PresentationFormat>
  <Paragraphs>123</Paragraphs>
  <Slides>22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Calibri</vt:lpstr>
      <vt:lpstr>Times New Roman</vt:lpstr>
      <vt:lpstr>Tw Cen MT</vt:lpstr>
      <vt:lpstr>Wingdings</vt:lpstr>
      <vt:lpstr>Wingdings 2</vt:lpstr>
      <vt:lpstr>AcademicPresentation3</vt:lpstr>
      <vt:lpstr>Our Color Vision is Limited (Chapter 5) Lecture 11-12</vt:lpstr>
      <vt:lpstr>Introduction</vt:lpstr>
      <vt:lpstr>Color Vision</vt:lpstr>
      <vt:lpstr>Edge Contrast [1/2]</vt:lpstr>
      <vt:lpstr>Edge Contrast [2/2]</vt:lpstr>
      <vt:lpstr>Ability to Discriminate Colors [1/6]</vt:lpstr>
      <vt:lpstr>Ability to Discriminate Colors [2/6]</vt:lpstr>
      <vt:lpstr>Ability to Discriminate Colors [3/6]</vt:lpstr>
      <vt:lpstr>Ability to Discriminate Colors [4/6]</vt:lpstr>
      <vt:lpstr>Ability to Discriminate Colors [5/6]</vt:lpstr>
      <vt:lpstr>Ability to Discriminate Colors [6/6]</vt:lpstr>
      <vt:lpstr>Color Blindness [1/3]</vt:lpstr>
      <vt:lpstr>Color Blindness [2/3]</vt:lpstr>
      <vt:lpstr>Color Blindness [3/3]</vt:lpstr>
      <vt:lpstr>External Factors</vt:lpstr>
      <vt:lpstr>Guidelines for Using Colors [1/7]</vt:lpstr>
      <vt:lpstr>Guidelines for Using Colors [2/7]</vt:lpstr>
      <vt:lpstr>Guidelines for Using Colors [3/7]</vt:lpstr>
      <vt:lpstr>Guidelines for Using Colors [4/7]</vt:lpstr>
      <vt:lpstr>Guidelines for Using Colors [5/7]</vt:lpstr>
      <vt:lpstr>Guidelines for Using Colors [6/7]</vt:lpstr>
      <vt:lpstr>Guidelines for Using Colors [7/7]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cp:revision>1</cp:revision>
  <dcterms:created xsi:type="dcterms:W3CDTF">2013-02-03T16:38:09Z</dcterms:created>
  <dcterms:modified xsi:type="dcterms:W3CDTF">2026-02-17T15:55:11Z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TC101671251033</vt:lpwstr>
  </property>
</Properties>
</file>