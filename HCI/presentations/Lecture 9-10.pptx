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6" r:id="rId2"/>
  </p:sldMasterIdLst>
  <p:notesMasterIdLst>
    <p:notesMasterId r:id="rId27"/>
  </p:notesMasterIdLst>
  <p:handoutMasterIdLst>
    <p:handoutMasterId r:id="rId28"/>
  </p:handoutMasterIdLst>
  <p:sldIdLst>
    <p:sldId id="256" r:id="rId3"/>
    <p:sldId id="315" r:id="rId4"/>
    <p:sldId id="316" r:id="rId5"/>
    <p:sldId id="317" r:id="rId6"/>
    <p:sldId id="318" r:id="rId7"/>
    <p:sldId id="319" r:id="rId8"/>
    <p:sldId id="320" r:id="rId9"/>
    <p:sldId id="322" r:id="rId10"/>
    <p:sldId id="323" r:id="rId11"/>
    <p:sldId id="324" r:id="rId12"/>
    <p:sldId id="327" r:id="rId13"/>
    <p:sldId id="326" r:id="rId14"/>
    <p:sldId id="328" r:id="rId15"/>
    <p:sldId id="329" r:id="rId16"/>
    <p:sldId id="330" r:id="rId17"/>
    <p:sldId id="332" r:id="rId18"/>
    <p:sldId id="331" r:id="rId19"/>
    <p:sldId id="333" r:id="rId20"/>
    <p:sldId id="334" r:id="rId21"/>
    <p:sldId id="335" r:id="rId22"/>
    <p:sldId id="336" r:id="rId23"/>
    <p:sldId id="337" r:id="rId24"/>
    <p:sldId id="340" r:id="rId25"/>
    <p:sldId id="338" r:id="rId26"/>
  </p:sldIdLst>
  <p:sldSz cx="12192000" cy="6858000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4660"/>
  </p:normalViewPr>
  <p:slideViewPr>
    <p:cSldViewPr>
      <p:cViewPr varScale="1">
        <p:scale>
          <a:sx n="70" d="100"/>
          <a:sy n="70" d="100"/>
        </p:scale>
        <p:origin x="72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F0F8C-53A7-445A-8B28-FD653297358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7C4F2-7EDC-4D62-BF85-C7A6CB47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99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9967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6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3599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59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175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3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2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8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20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2251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37548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4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679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 l="-9000" r="-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mtClean="0"/>
              <a:t>‹#›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042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42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2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2667000" y="3048000"/>
            <a:ext cx="7162800" cy="14478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Our Vision is Optimized to See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Structure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Chapter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2)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Lecture 9-10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Gestalt – German word</a:t>
            </a:r>
          </a:p>
          <a:p>
            <a:pPr lvl="1"/>
            <a:r>
              <a:rPr lang="en-US" dirty="0" smtClean="0"/>
              <a:t>Meaning: Figure / shape</a:t>
            </a:r>
          </a:p>
          <a:p>
            <a:r>
              <a:rPr lang="en-US" dirty="0" smtClean="0"/>
              <a:t>Human visual perception</a:t>
            </a:r>
          </a:p>
          <a:p>
            <a:r>
              <a:rPr lang="en-US" dirty="0" smtClean="0"/>
              <a:t>Gestalt principles/theories</a:t>
            </a:r>
          </a:p>
          <a:p>
            <a:pPr lvl="1"/>
            <a:r>
              <a:rPr lang="en-US" dirty="0" smtClean="0"/>
              <a:t>Descriptive framework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02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Proximity [1/5]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relative distance between objects</a:t>
            </a:r>
          </a:p>
          <a:p>
            <a:r>
              <a:rPr lang="en-US" dirty="0" smtClean="0"/>
              <a:t>Perception about object organization</a:t>
            </a:r>
          </a:p>
          <a:p>
            <a:r>
              <a:rPr lang="en-US" dirty="0" smtClean="0"/>
              <a:t>Layout of control panels and data forms</a:t>
            </a:r>
          </a:p>
          <a:p>
            <a:r>
              <a:rPr lang="en-US" dirty="0" smtClean="0"/>
              <a:t>Group boxes / separator lines</a:t>
            </a:r>
          </a:p>
          <a:p>
            <a:r>
              <a:rPr lang="en-US" dirty="0" smtClean="0"/>
              <a:t>If not properly grouped</a:t>
            </a:r>
          </a:p>
          <a:p>
            <a:pPr lvl="1"/>
            <a:r>
              <a:rPr lang="en-US" dirty="0" smtClean="0"/>
              <a:t>Confusion / frustration</a:t>
            </a:r>
          </a:p>
          <a:p>
            <a:endParaRPr lang="en-US" dirty="0" smtClean="0"/>
          </a:p>
          <a:p>
            <a:r>
              <a:rPr lang="en-US" b="1" dirty="0"/>
              <a:t>Proximity</a:t>
            </a:r>
            <a:r>
              <a:rPr lang="en-US" dirty="0"/>
              <a:t> in HCI means </a:t>
            </a:r>
            <a:r>
              <a:rPr lang="en-US" b="1" dirty="0"/>
              <a:t>placing related items close together</a:t>
            </a:r>
            <a:r>
              <a:rPr lang="en-US" dirty="0"/>
              <a:t> in an interface so users naturally understand they belong to the same group.</a:t>
            </a:r>
          </a:p>
        </p:txBody>
      </p:sp>
    </p:spTree>
    <p:extLst>
      <p:ext uri="{BB962C8B-B14F-4D97-AF65-F5344CB8AC3E}">
        <p14:creationId xmlns:p14="http://schemas.microsoft.com/office/powerpoint/2010/main" val="168904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 </a:t>
            </a:r>
            <a:r>
              <a:rPr lang="en-US" dirty="0" smtClean="0"/>
              <a:t>[2/5</a:t>
            </a:r>
            <a:r>
              <a:rPr lang="en-US" dirty="0"/>
              <a:t>]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486026"/>
            <a:ext cx="9067800" cy="3538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8624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 </a:t>
            </a:r>
            <a:r>
              <a:rPr lang="en-US" dirty="0" smtClean="0"/>
              <a:t>[3/5</a:t>
            </a:r>
            <a:r>
              <a:rPr lang="en-US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12</a:t>
            </a:r>
            <a:endParaRPr lang="en-US" sz="9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576388"/>
            <a:ext cx="6019800" cy="4932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589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 </a:t>
            </a:r>
            <a:r>
              <a:rPr lang="en-US" dirty="0" smtClean="0"/>
              <a:t>[4/5</a:t>
            </a:r>
            <a:r>
              <a:rPr lang="en-US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13</a:t>
            </a:r>
            <a:endParaRPr lang="en-US" sz="9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033588"/>
            <a:ext cx="7965646" cy="391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442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 </a:t>
            </a:r>
            <a:r>
              <a:rPr lang="en-US" dirty="0" smtClean="0"/>
              <a:t>[5/5</a:t>
            </a:r>
            <a:r>
              <a:rPr lang="en-US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13</a:t>
            </a:r>
            <a:endParaRPr lang="en-US" sz="9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490787"/>
            <a:ext cx="7772401" cy="3594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120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</a:t>
            </a:r>
            <a:r>
              <a:rPr lang="en-US" dirty="0" smtClean="0"/>
              <a:t>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that look similar appear grouped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14</a:t>
            </a:r>
            <a:endParaRPr lang="en-US" sz="9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454138"/>
            <a:ext cx="4819650" cy="37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049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</a:t>
            </a:r>
            <a:r>
              <a:rPr lang="en-US" dirty="0" smtClean="0"/>
              <a:t>[2/3</a:t>
            </a:r>
            <a:r>
              <a:rPr lang="en-US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14</a:t>
            </a:r>
            <a:endParaRPr lang="en-US" sz="9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963212"/>
            <a:ext cx="7315200" cy="4208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904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</a:t>
            </a:r>
            <a:r>
              <a:rPr lang="en-US" dirty="0" smtClean="0"/>
              <a:t>[3/3</a:t>
            </a:r>
            <a:r>
              <a:rPr lang="en-US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15</a:t>
            </a:r>
            <a:endParaRPr lang="en-US" sz="9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1789132"/>
            <a:ext cx="5610225" cy="4535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34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</a:t>
            </a:r>
            <a:r>
              <a:rPr lang="en-US" dirty="0" smtClean="0"/>
              <a:t>[1/3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perception is biased towards continuous form</a:t>
            </a:r>
          </a:p>
          <a:p>
            <a:pPr lvl="1"/>
            <a:r>
              <a:rPr lang="en-US" dirty="0"/>
              <a:t>To resolve ambiguity or fill in missing data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3067050"/>
            <a:ext cx="29337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6" y="3848100"/>
            <a:ext cx="38195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281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</a:t>
            </a:r>
            <a:r>
              <a:rPr lang="en-US" dirty="0" smtClean="0"/>
              <a:t>[2/3</a:t>
            </a:r>
            <a:r>
              <a:rPr lang="en-US" dirty="0"/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16</a:t>
            </a:r>
            <a:endParaRPr lang="en-US" sz="9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6" y="2943226"/>
            <a:ext cx="5476875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139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</a:t>
            </a:r>
            <a:r>
              <a:rPr lang="en-US" dirty="0" smtClean="0"/>
              <a:t>[3/3</a:t>
            </a:r>
            <a:r>
              <a:rPr lang="en-US" dirty="0"/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17</a:t>
            </a:r>
            <a:endParaRPr lang="en-US" sz="9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46734"/>
            <a:ext cx="8102240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887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Closure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Ability to close open figures</a:t>
            </a:r>
          </a:p>
          <a:p>
            <a:r>
              <a:rPr lang="en-US" dirty="0" smtClean="0"/>
              <a:t>Biased to see whole objects</a:t>
            </a:r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6" y="2971801"/>
            <a:ext cx="587692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17</a:t>
            </a:r>
            <a:endParaRPr lang="en-US" sz="9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700" y="1676401"/>
            <a:ext cx="11049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278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 </a:t>
            </a:r>
            <a:r>
              <a:rPr lang="en-US" dirty="0" smtClean="0"/>
              <a:t>[1/2]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Tendency to parse complex scenes to reduce the complexity</a:t>
            </a:r>
          </a:p>
          <a:p>
            <a:r>
              <a:rPr lang="en-US" dirty="0" smtClean="0"/>
              <a:t>More than one possible interpretation</a:t>
            </a:r>
          </a:p>
          <a:p>
            <a:r>
              <a:rPr lang="en-US" b="1" dirty="0"/>
              <a:t>Symmetry</a:t>
            </a:r>
            <a:r>
              <a:rPr lang="en-US" dirty="0"/>
              <a:t> means </a:t>
            </a:r>
            <a:r>
              <a:rPr lang="en-US" b="1" dirty="0"/>
              <a:t>balanced and equal arrangement of parts</a:t>
            </a:r>
            <a:r>
              <a:rPr lang="en-US" dirty="0"/>
              <a:t> on both sides of a center line or axis.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26" y="4038600"/>
            <a:ext cx="71913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7191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 </a:t>
            </a:r>
            <a:r>
              <a:rPr lang="en-US" dirty="0" smtClean="0"/>
              <a:t>[2/2]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19</a:t>
            </a:r>
            <a:endParaRPr lang="en-US" sz="9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724026"/>
            <a:ext cx="7405689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515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Figure/Ground </a:t>
            </a:r>
            <a:r>
              <a:rPr lang="en-US" dirty="0" smtClean="0"/>
              <a:t>[1/4]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Visual field is divided into figure (foreground) and ground (background)</a:t>
            </a:r>
          </a:p>
          <a:p>
            <a:r>
              <a:rPr lang="en-US" dirty="0" smtClean="0"/>
              <a:t>Primary attention on foreground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1" y="3352800"/>
            <a:ext cx="30384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20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0570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Figure/Ground </a:t>
            </a:r>
            <a:r>
              <a:rPr lang="en-US" dirty="0" smtClean="0"/>
              <a:t>[2/4</a:t>
            </a:r>
            <a:r>
              <a:rPr lang="en-US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20</a:t>
            </a:r>
            <a:endParaRPr lang="en-US" sz="9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971676"/>
            <a:ext cx="6651431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425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Figure/Ground </a:t>
            </a:r>
            <a:r>
              <a:rPr lang="en-US" dirty="0" smtClean="0"/>
              <a:t>[3/4</a:t>
            </a:r>
            <a:r>
              <a:rPr lang="en-US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21</a:t>
            </a:r>
            <a:endParaRPr lang="en-US" sz="9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1800226"/>
            <a:ext cx="708660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995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Figure/Ground </a:t>
            </a:r>
            <a:r>
              <a:rPr lang="en-US" dirty="0" smtClean="0"/>
              <a:t>[4/4</a:t>
            </a:r>
            <a:r>
              <a:rPr lang="en-US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21</a:t>
            </a:r>
            <a:endParaRPr lang="en-US" sz="9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852614"/>
            <a:ext cx="7638490" cy="454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669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</a:t>
            </a:r>
            <a:r>
              <a:rPr lang="en-US" dirty="0"/>
              <a:t>Fate </a:t>
            </a:r>
            <a:r>
              <a:rPr lang="en-US" dirty="0" smtClean="0"/>
              <a:t>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Perception of moving objects</a:t>
            </a:r>
          </a:p>
          <a:p>
            <a:r>
              <a:rPr lang="en-US" dirty="0" smtClean="0"/>
              <a:t>Objects that move together are perceived as group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467100"/>
            <a:ext cx="8075062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6438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</a:t>
            </a:r>
            <a:r>
              <a:rPr lang="en-US" dirty="0"/>
              <a:t>Fate </a:t>
            </a:r>
            <a:r>
              <a:rPr lang="en-US" dirty="0" smtClean="0"/>
              <a:t>[2/3</a:t>
            </a:r>
            <a:r>
              <a:rPr lang="en-US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23</a:t>
            </a:r>
            <a:endParaRPr lang="en-US" sz="9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1" y="1828800"/>
            <a:ext cx="7453314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146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</a:t>
            </a:r>
            <a:r>
              <a:rPr lang="en-US" dirty="0"/>
              <a:t>Fate </a:t>
            </a:r>
            <a:r>
              <a:rPr lang="en-US" dirty="0" smtClean="0"/>
              <a:t>[3/3</a:t>
            </a:r>
            <a:r>
              <a:rPr lang="en-US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24</a:t>
            </a:r>
            <a:endParaRPr lang="en-US" sz="9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794" y="2019300"/>
            <a:ext cx="5766807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651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821"/>
            <a:ext cx="10515600" cy="1325563"/>
          </a:xfrm>
        </p:spPr>
        <p:txBody>
          <a:bodyPr/>
          <a:lstStyle/>
          <a:p>
            <a:r>
              <a:rPr lang="en-US" dirty="0" smtClean="0"/>
              <a:t>Combined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351338"/>
          </a:xfrm>
        </p:spPr>
        <p:txBody>
          <a:bodyPr/>
          <a:lstStyle/>
          <a:p>
            <a:r>
              <a:rPr lang="en-US" dirty="0" smtClean="0"/>
              <a:t>Gestalt principles work together (rather than in isolation)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799" y="2084697"/>
            <a:ext cx="5800727" cy="377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24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0350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687</Words>
  <Application>Microsoft Office PowerPoint</Application>
  <PresentationFormat>Widescreen</PresentationFormat>
  <Paragraphs>71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Our Vision is Optimized to See Structure (Chapter 2) Lecture 9-10</vt:lpstr>
      <vt:lpstr>Introduction</vt:lpstr>
      <vt:lpstr>Proximity [1/5]</vt:lpstr>
      <vt:lpstr>Proximity [2/5]</vt:lpstr>
      <vt:lpstr>Proximity [3/5]</vt:lpstr>
      <vt:lpstr>Proximity [4/5]</vt:lpstr>
      <vt:lpstr>Proximity [5/5]</vt:lpstr>
      <vt:lpstr>Similarity [1/3]</vt:lpstr>
      <vt:lpstr>Similarity [2/3]</vt:lpstr>
      <vt:lpstr>Similarity [3/3]</vt:lpstr>
      <vt:lpstr>Continuity [1/3]</vt:lpstr>
      <vt:lpstr>Continuity [2/3]</vt:lpstr>
      <vt:lpstr>Continuity [3/3]</vt:lpstr>
      <vt:lpstr>Closure</vt:lpstr>
      <vt:lpstr>Symmetry [1/2]</vt:lpstr>
      <vt:lpstr>Symmetry [2/2]</vt:lpstr>
      <vt:lpstr>Figure/Ground [1/4]</vt:lpstr>
      <vt:lpstr>Figure/Ground [2/4]</vt:lpstr>
      <vt:lpstr>Figure/Ground [3/4]</vt:lpstr>
      <vt:lpstr>Figure/Ground [4/4]</vt:lpstr>
      <vt:lpstr>Common Fate [1/3]</vt:lpstr>
      <vt:lpstr>Common Fate [2/3]</vt:lpstr>
      <vt:lpstr>Common Fate [3/3]</vt:lpstr>
      <vt:lpstr>Combined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2013-02-03T16:38:09Z</dcterms:created>
  <dcterms:modified xsi:type="dcterms:W3CDTF">2026-02-17T16:21:37Z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