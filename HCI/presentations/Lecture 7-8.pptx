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29" r:id="rId2"/>
  </p:sldMasterIdLst>
  <p:notesMasterIdLst>
    <p:notesMasterId r:id="rId20"/>
  </p:notesMasterIdLst>
  <p:sldIdLst>
    <p:sldId id="256" r:id="rId3"/>
    <p:sldId id="269" r:id="rId4"/>
    <p:sldId id="315" r:id="rId5"/>
    <p:sldId id="318" r:id="rId6"/>
    <p:sldId id="317" r:id="rId7"/>
    <p:sldId id="294" r:id="rId8"/>
    <p:sldId id="319" r:id="rId9"/>
    <p:sldId id="320" r:id="rId10"/>
    <p:sldId id="306" r:id="rId11"/>
    <p:sldId id="308" r:id="rId12"/>
    <p:sldId id="307" r:id="rId13"/>
    <p:sldId id="305" r:id="rId14"/>
    <p:sldId id="309" r:id="rId15"/>
    <p:sldId id="310" r:id="rId16"/>
    <p:sldId id="311" r:id="rId17"/>
    <p:sldId id="312" r:id="rId18"/>
    <p:sldId id="314" r:id="rId19"/>
  </p:sldIdLst>
  <p:sldSz cx="12192000" cy="6858000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70" d="100"/>
          <a:sy n="70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5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59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84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47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2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2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96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89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5985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663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8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8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21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34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65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84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816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425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76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31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82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37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971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117678" y="4572000"/>
            <a:ext cx="9159922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PACT Framework (Chapter 2)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Lecture 7-8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5822"/>
          <a:stretch/>
        </p:blipFill>
        <p:spPr>
          <a:xfrm>
            <a:off x="838200" y="125104"/>
            <a:ext cx="1066800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603" y="1483460"/>
            <a:ext cx="8265994" cy="507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00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PACT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analysis based on People, Activities, Context and Technology, well-known by the acronym PACT is a generic framework used to </a:t>
            </a:r>
            <a:r>
              <a:rPr lang="en-US" dirty="0" smtClean="0"/>
              <a:t>analyze </a:t>
            </a:r>
            <a:r>
              <a:rPr lang="en-US" dirty="0"/>
              <a:t>design situations in interactive systems.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PACT </a:t>
            </a:r>
            <a:r>
              <a:rPr lang="en-US" dirty="0"/>
              <a:t>analysis follows the principle that "People use Technologies to undertake Activities in Contexts" and covers the scope of Human-Computer Interaction (</a:t>
            </a:r>
            <a:r>
              <a:rPr lang="en-US" dirty="0" smtClean="0"/>
              <a:t>HCI).</a:t>
            </a:r>
          </a:p>
          <a:p>
            <a:endParaRPr lang="en-US" dirty="0"/>
          </a:p>
          <a:p>
            <a:r>
              <a:rPr lang="en-US" dirty="0" smtClean="0"/>
              <a:t>By </a:t>
            </a:r>
            <a:r>
              <a:rPr lang="en-US" dirty="0"/>
              <a:t>following this principle, designers understand how each element varies and how all elements affect one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94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102108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4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a PACT </a:t>
            </a:r>
            <a:r>
              <a:rPr lang="en-US" dirty="0" smtClean="0"/>
              <a:t>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general, a PACT analysis can be proved particularly helpful when the concept is a design solution, especially when </a:t>
            </a:r>
            <a:r>
              <a:rPr lang="en-US" dirty="0" err="1"/>
              <a:t>analysing</a:t>
            </a:r>
            <a:r>
              <a:rPr lang="en-US" dirty="0"/>
              <a:t> a platform design that already exists and needs to be redesigned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People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21898" y="1157784"/>
            <a:ext cx="10989102" cy="531921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Physical differences</a:t>
            </a:r>
          </a:p>
          <a:p>
            <a:pPr lvl="1"/>
            <a:r>
              <a:rPr lang="en-US" sz="2400" dirty="0"/>
              <a:t>Height and weight</a:t>
            </a:r>
          </a:p>
          <a:p>
            <a:pPr lvl="1"/>
            <a:r>
              <a:rPr lang="en-US" sz="2400" dirty="0"/>
              <a:t>Variability in the five senses</a:t>
            </a:r>
          </a:p>
          <a:p>
            <a:pPr lvl="1"/>
            <a:r>
              <a:rPr lang="en-US" sz="2400" dirty="0"/>
              <a:t>Ergonomics</a:t>
            </a:r>
          </a:p>
          <a:p>
            <a:pPr lvl="1"/>
            <a:r>
              <a:rPr lang="en-US" sz="2400" dirty="0" err="1"/>
              <a:t>Fitts</a:t>
            </a:r>
            <a:r>
              <a:rPr lang="en-US" sz="2400" dirty="0"/>
              <a:t>’ law –(</a:t>
            </a:r>
            <a:r>
              <a:rPr lang="en-US" sz="2000" dirty="0" err="1"/>
              <a:t>Fitts</a:t>
            </a:r>
            <a:r>
              <a:rPr lang="en-US" sz="2000" dirty="0"/>
              <a:t>’ Law in </a:t>
            </a:r>
            <a:r>
              <a:rPr lang="en-US" sz="2000" b="1" dirty="0"/>
              <a:t>HCI (Human–Computer Interaction)</a:t>
            </a:r>
            <a:r>
              <a:rPr lang="en-US" sz="2000" dirty="0"/>
              <a:t> is one of those simple-but-powerful rules that explains </a:t>
            </a:r>
            <a:r>
              <a:rPr lang="en-US" sz="2000" b="1" dirty="0"/>
              <a:t>why some interfaces feel fast and easy while others feel </a:t>
            </a:r>
            <a:r>
              <a:rPr lang="en-US" sz="2000" b="1" dirty="0" smtClean="0"/>
              <a:t>annoying)</a:t>
            </a:r>
            <a:r>
              <a:rPr lang="en-US" sz="2400" dirty="0" smtClean="0"/>
              <a:t>.</a:t>
            </a:r>
            <a:endParaRPr lang="en-US" sz="2400" dirty="0"/>
          </a:p>
          <a:p>
            <a:pPr marL="342900" lvl="1" indent="0">
              <a:buNone/>
            </a:pPr>
            <a:endParaRPr lang="en-US" sz="2400" dirty="0"/>
          </a:p>
          <a:p>
            <a:r>
              <a:rPr lang="en-US" sz="2800" dirty="0">
                <a:solidFill>
                  <a:srgbClr val="FF0000"/>
                </a:solidFill>
              </a:rPr>
              <a:t>Psychological differences</a:t>
            </a:r>
          </a:p>
          <a:p>
            <a:pPr lvl="1"/>
            <a:r>
              <a:rPr lang="en-US" sz="2400" dirty="0"/>
              <a:t>Variety of ways e.g. spatial ability </a:t>
            </a:r>
          </a:p>
          <a:p>
            <a:pPr lvl="1"/>
            <a:r>
              <a:rPr lang="en-US" sz="2400" dirty="0"/>
              <a:t>Language and cultural differences</a:t>
            </a:r>
          </a:p>
          <a:p>
            <a:pPr lvl="1"/>
            <a:r>
              <a:rPr lang="en-US" sz="2400" dirty="0" smtClean="0"/>
              <a:t>Individual </a:t>
            </a:r>
            <a:r>
              <a:rPr lang="en-US" sz="2400" dirty="0"/>
              <a:t>differences</a:t>
            </a:r>
          </a:p>
          <a:p>
            <a:pPr lvl="1"/>
            <a:r>
              <a:rPr lang="en-US" sz="2400" dirty="0"/>
              <a:t>Psychological tests</a:t>
            </a:r>
          </a:p>
          <a:p>
            <a:pPr lvl="1"/>
            <a:r>
              <a:rPr lang="en-US" sz="2400" dirty="0"/>
              <a:t>Mental models</a:t>
            </a:r>
          </a:p>
        </p:txBody>
      </p:sp>
    </p:spTree>
    <p:extLst>
      <p:ext uri="{BB962C8B-B14F-4D97-AF65-F5344CB8AC3E}">
        <p14:creationId xmlns:p14="http://schemas.microsoft.com/office/powerpoint/2010/main" val="96500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73050"/>
            <a:ext cx="10769600" cy="86995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</a:rPr>
              <a:t>What </a:t>
            </a:r>
            <a:r>
              <a:rPr lang="en-US" b="1" dirty="0" err="1">
                <a:solidFill>
                  <a:schemeClr val="tx1"/>
                </a:solidFill>
              </a:rPr>
              <a:t>Fitts</a:t>
            </a:r>
            <a:r>
              <a:rPr lang="en-US" b="1" dirty="0">
                <a:solidFill>
                  <a:schemeClr val="tx1"/>
                </a:solidFill>
              </a:rPr>
              <a:t>’ Law says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quarter" idx="1"/>
          </p:nvPr>
        </p:nvSpPr>
        <p:spPr bwMode="auto">
          <a:xfrm>
            <a:off x="736600" y="1091268"/>
            <a:ext cx="10464800" cy="552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The time it takes for a user to move to a target depends on: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Distance to the target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(how far it 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Size of the target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(how big it 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👉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Closer and bigger targets are faster to click.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👉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Farther and smaller targets take more time and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Simple formula (for understanding)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Movement Time ∝ log₂ (Distance ÷ Target Size)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You don’t need to memorize the formula for beginners—just the idea.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Easy real-life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It’s easier to hit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big door handle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than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tiny button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It’s faster to click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large “Submit” button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than a small link far away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12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15" y="609600"/>
            <a:ext cx="10769600" cy="86995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 smtClean="0"/>
              <a:t>Examples in HCI &amp; UI Design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30200" y="1828800"/>
            <a:ext cx="11734800" cy="44196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Large </a:t>
            </a:r>
            <a:r>
              <a:rPr lang="en-US" sz="2400" b="1" dirty="0">
                <a:solidFill>
                  <a:srgbClr val="FF0000"/>
                </a:solidFill>
              </a:rPr>
              <a:t>buttons</a:t>
            </a:r>
            <a:r>
              <a:rPr lang="en-US" sz="2400" dirty="0">
                <a:solidFill>
                  <a:srgbClr val="FF0000"/>
                </a:solidFill>
              </a:rPr>
              <a:t> on mobile apps (Call, Send, OK)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Edges and corners of the screen</a:t>
            </a:r>
            <a:r>
              <a:rPr lang="en-US" sz="2400" dirty="0"/>
              <a:t> (easy to hit because the pointer can’t go past them)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Example: Start Menu in Windows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Toolbar icons</a:t>
            </a:r>
            <a:r>
              <a:rPr lang="en-US" sz="2400" dirty="0"/>
              <a:t> placed close to where the user is working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Bigger touch targets</a:t>
            </a:r>
            <a:r>
              <a:rPr lang="en-US" sz="2400" dirty="0"/>
              <a:t> for fingers on smartphones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Why </a:t>
            </a:r>
            <a:r>
              <a:rPr lang="en-US" sz="2400" b="1" dirty="0" err="1"/>
              <a:t>Fitts</a:t>
            </a:r>
            <a:r>
              <a:rPr lang="en-US" sz="2400" b="1" dirty="0"/>
              <a:t>’ Law matters in HCI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Designers use it to: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Reduce user </a:t>
            </a:r>
            <a:r>
              <a:rPr lang="en-US" sz="2400" dirty="0" smtClean="0"/>
              <a:t>effort - Improve </a:t>
            </a:r>
            <a:r>
              <a:rPr lang="en-US" sz="2400" dirty="0"/>
              <a:t>speed and </a:t>
            </a:r>
            <a:r>
              <a:rPr lang="en-US" sz="2400" dirty="0" smtClean="0"/>
              <a:t>accuracy -Make interfaces </a:t>
            </a:r>
            <a:r>
              <a:rPr lang="en-US" sz="2400" b="1" dirty="0"/>
              <a:t>usable and </a:t>
            </a:r>
            <a:r>
              <a:rPr lang="en-US" sz="2400" b="1" dirty="0" smtClean="0"/>
              <a:t>user-friendly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51678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Mental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572856"/>
            <a:ext cx="11315700" cy="5056543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Mental Models in HCI</a:t>
            </a:r>
            <a:r>
              <a:rPr lang="en-US" dirty="0">
                <a:solidFill>
                  <a:srgbClr val="FF0000"/>
                </a:solidFill>
              </a:rPr>
              <a:t> are all about </a:t>
            </a:r>
            <a:r>
              <a:rPr lang="en-US" b="1" dirty="0">
                <a:solidFill>
                  <a:srgbClr val="FF0000"/>
                </a:solidFill>
              </a:rPr>
              <a:t>how users think a system works</a:t>
            </a:r>
            <a:r>
              <a:rPr lang="en-US" dirty="0">
                <a:solidFill>
                  <a:srgbClr val="FF0000"/>
                </a:solidFill>
              </a:rPr>
              <a:t>—not how it actually works under the hood.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People </a:t>
            </a:r>
            <a:r>
              <a:rPr lang="en-US" dirty="0"/>
              <a:t>develop mental models through 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nteracting </a:t>
            </a:r>
            <a:r>
              <a:rPr lang="en-US" dirty="0"/>
              <a:t>with </a:t>
            </a:r>
            <a:r>
              <a:rPr lang="en-US" dirty="0" smtClean="0"/>
              <a:t>systems </a:t>
            </a:r>
            <a:endParaRPr lang="en-US" dirty="0"/>
          </a:p>
          <a:p>
            <a:pPr lvl="1"/>
            <a:r>
              <a:rPr lang="en-US" sz="2600" dirty="0"/>
              <a:t>O</a:t>
            </a:r>
            <a:r>
              <a:rPr lang="en-US" sz="2600" dirty="0" smtClean="0"/>
              <a:t>bserving </a:t>
            </a:r>
            <a:r>
              <a:rPr lang="en-US" sz="2600" dirty="0"/>
              <a:t>the relationship between their actions and the </a:t>
            </a:r>
            <a:r>
              <a:rPr lang="en-US" sz="2600" dirty="0" smtClean="0"/>
              <a:t>behaviors </a:t>
            </a:r>
            <a:r>
              <a:rPr lang="en-US" sz="2600" dirty="0"/>
              <a:t>of the system </a:t>
            </a:r>
          </a:p>
          <a:p>
            <a:pPr lvl="1"/>
            <a:r>
              <a:rPr lang="en-US" sz="2600" dirty="0"/>
              <a:t>R</a:t>
            </a:r>
            <a:r>
              <a:rPr lang="en-US" sz="2600" dirty="0" smtClean="0"/>
              <a:t>eading </a:t>
            </a:r>
            <a:r>
              <a:rPr lang="en-US" sz="2600" dirty="0"/>
              <a:t>any manuals or other forms of explanation that come with a system.</a:t>
            </a:r>
            <a:r>
              <a:rPr lang="en-US" sz="3000" dirty="0"/>
              <a:t> </a:t>
            </a:r>
          </a:p>
          <a:p>
            <a:pPr lvl="1"/>
            <a:r>
              <a:rPr lang="en-US" dirty="0"/>
              <a:t>So, it is important that designers provide sufficient information in the interface (</a:t>
            </a:r>
            <a:r>
              <a:rPr lang="en-US" sz="2600" dirty="0"/>
              <a:t>and any accompanying documentation) for people to form an accurate mental </a:t>
            </a:r>
            <a:r>
              <a:rPr lang="en-US" sz="2600" dirty="0" smtClean="0"/>
              <a:t>mode)</a:t>
            </a:r>
          </a:p>
          <a:p>
            <a:r>
              <a:rPr lang="en-US" b="1" dirty="0">
                <a:solidFill>
                  <a:srgbClr val="FF0000"/>
                </a:solidFill>
              </a:rPr>
              <a:t>Simple example (everyday)</a:t>
            </a:r>
          </a:p>
          <a:p>
            <a:r>
              <a:rPr lang="en-US" sz="2600" dirty="0"/>
              <a:t>You think the </a:t>
            </a:r>
            <a:r>
              <a:rPr lang="en-US" sz="2600" b="1" dirty="0"/>
              <a:t>trash bin</a:t>
            </a:r>
            <a:r>
              <a:rPr lang="en-US" sz="2600" dirty="0"/>
              <a:t> deletes files forever → that’s your mental model</a:t>
            </a:r>
          </a:p>
          <a:p>
            <a:r>
              <a:rPr lang="en-US" sz="2600" dirty="0"/>
              <a:t>In reality, it just moves files to a temporary folder → system model</a:t>
            </a:r>
            <a:br>
              <a:rPr lang="en-US" sz="2600" dirty="0"/>
            </a:br>
            <a:r>
              <a:rPr lang="en-US" sz="2600" dirty="0"/>
              <a:t>When these don’t match, users get confused 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6107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Mental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11200" y="1523953"/>
            <a:ext cx="11023600" cy="4419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Designers have </a:t>
            </a:r>
            <a:r>
              <a:rPr lang="en-US" dirty="0" smtClean="0">
                <a:solidFill>
                  <a:srgbClr val="FF0000"/>
                </a:solidFill>
              </a:rPr>
              <a:t>their own conception 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It may differ from the actual system </a:t>
            </a:r>
            <a:endParaRPr lang="en-US" dirty="0"/>
          </a:p>
          <a:p>
            <a:pPr lvl="1"/>
            <a:r>
              <a:rPr lang="en-US" dirty="0" smtClean="0"/>
              <a:t>System size and number of designers</a:t>
            </a:r>
            <a:endParaRPr lang="en-US" dirty="0"/>
          </a:p>
          <a:p>
            <a:pPr lvl="1"/>
            <a:r>
              <a:rPr lang="en-US" dirty="0" smtClean="0"/>
              <a:t>System will </a:t>
            </a:r>
            <a:r>
              <a:rPr lang="en-US" dirty="0"/>
              <a:t>reveal the designer’s conception.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Users have their own conception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nteract </a:t>
            </a:r>
            <a:r>
              <a:rPr lang="en-US" dirty="0"/>
              <a:t>with the system </a:t>
            </a:r>
            <a:r>
              <a:rPr lang="en-US" dirty="0" smtClean="0"/>
              <a:t>image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clear, logical and consistent conceptual design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Easier </a:t>
            </a:r>
            <a:r>
              <a:rPr lang="en-US" dirty="0"/>
              <a:t>to communicate to people who use the system and hence they will develop a clearer conception of the system themselves.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603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Mental models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16718" y="1539874"/>
            <a:ext cx="11294282" cy="46323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Mental models are </a:t>
            </a:r>
            <a:r>
              <a:rPr lang="en-US" dirty="0" smtClean="0">
                <a:solidFill>
                  <a:srgbClr val="FF0000"/>
                </a:solidFill>
              </a:rPr>
              <a:t>incomplete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People can ‘run’ (or try out) their models when required, but often with limited accuracy</a:t>
            </a:r>
          </a:p>
          <a:p>
            <a:r>
              <a:rPr lang="en-US" dirty="0">
                <a:solidFill>
                  <a:srgbClr val="FF0000"/>
                </a:solidFill>
              </a:rPr>
              <a:t>Mental models are unstable </a:t>
            </a:r>
            <a:r>
              <a:rPr lang="en-US" dirty="0"/>
              <a:t>– people forget details.</a:t>
            </a:r>
          </a:p>
          <a:p>
            <a:r>
              <a:rPr lang="en-US" dirty="0"/>
              <a:t>Mental models do not have firm boundaries: similar devices and operations get confused with one another.</a:t>
            </a:r>
          </a:p>
          <a:p>
            <a:r>
              <a:rPr lang="en-US" dirty="0">
                <a:solidFill>
                  <a:srgbClr val="FF0000"/>
                </a:solidFill>
              </a:rPr>
              <a:t>Mental models are unscientific</a:t>
            </a:r>
            <a:r>
              <a:rPr lang="en-US" dirty="0"/>
              <a:t>, exhibiting ‘superstitious’ </a:t>
            </a:r>
            <a:r>
              <a:rPr lang="en-US" dirty="0" smtClean="0"/>
              <a:t>behavior.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Mental models are parsimonious. </a:t>
            </a:r>
            <a:r>
              <a:rPr lang="en-US" dirty="0"/>
              <a:t>People are willing to undertake additional physical operations to minimize mental effort, e.g. people will switch off the device and start again rather than trying to recover from an error.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1964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People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Social </a:t>
            </a:r>
            <a:r>
              <a:rPr lang="en-US" dirty="0">
                <a:solidFill>
                  <a:srgbClr val="FF0000"/>
                </a:solidFill>
              </a:rPr>
              <a:t>Differences</a:t>
            </a:r>
          </a:p>
          <a:p>
            <a:pPr lvl="1"/>
            <a:r>
              <a:rPr lang="en-US" dirty="0" smtClean="0"/>
              <a:t>Different reasons/goals/motivations of system usage</a:t>
            </a:r>
          </a:p>
          <a:p>
            <a:pPr lvl="1"/>
            <a:r>
              <a:rPr lang="en-US" dirty="0" smtClean="0"/>
              <a:t>Time dependent</a:t>
            </a:r>
          </a:p>
          <a:p>
            <a:pPr lvl="1"/>
            <a:r>
              <a:rPr lang="en-US" dirty="0" smtClean="0"/>
              <a:t>Novice and expert users</a:t>
            </a:r>
          </a:p>
          <a:p>
            <a:pPr lvl="1"/>
            <a:r>
              <a:rPr lang="en-US" dirty="0" smtClean="0"/>
              <a:t>Discretionary users</a:t>
            </a:r>
          </a:p>
          <a:p>
            <a:pPr lvl="1"/>
            <a:r>
              <a:rPr lang="en-US" dirty="0" smtClean="0"/>
              <a:t>Homogeneous VS heterogeneous groups</a:t>
            </a:r>
          </a:p>
        </p:txBody>
      </p:sp>
    </p:spTree>
    <p:extLst>
      <p:ext uri="{BB962C8B-B14F-4D97-AF65-F5344CB8AC3E}">
        <p14:creationId xmlns:p14="http://schemas.microsoft.com/office/powerpoint/2010/main" val="78833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1539875"/>
            <a:ext cx="10871200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Simple to very complex tasks</a:t>
            </a:r>
          </a:p>
          <a:p>
            <a:r>
              <a:rPr lang="en-US" dirty="0" smtClean="0"/>
              <a:t>Main purpose of the task</a:t>
            </a:r>
          </a:p>
          <a:p>
            <a:r>
              <a:rPr lang="en-US" dirty="0" smtClean="0"/>
              <a:t>Temporal aspects</a:t>
            </a:r>
          </a:p>
          <a:p>
            <a:pPr lvl="1"/>
            <a:r>
              <a:rPr lang="en-US" dirty="0" smtClean="0"/>
              <a:t>Frequency of the task</a:t>
            </a:r>
          </a:p>
          <a:p>
            <a:pPr lvl="2"/>
            <a:r>
              <a:rPr lang="en-US" dirty="0" smtClean="0"/>
              <a:t>Easy to do VS easy to learn</a:t>
            </a:r>
          </a:p>
          <a:p>
            <a:pPr lvl="1"/>
            <a:r>
              <a:rPr lang="en-US" dirty="0" smtClean="0"/>
              <a:t>Time pressure</a:t>
            </a:r>
          </a:p>
          <a:p>
            <a:pPr lvl="1"/>
            <a:r>
              <a:rPr lang="en-US" dirty="0" smtClean="0"/>
              <a:t>Interruption during the task</a:t>
            </a:r>
          </a:p>
          <a:p>
            <a:pPr lvl="1"/>
            <a:r>
              <a:rPr lang="en-US" dirty="0" smtClean="0"/>
              <a:t>Response time</a:t>
            </a:r>
          </a:p>
          <a:p>
            <a:pPr lvl="2"/>
            <a:r>
              <a:rPr lang="en-US" dirty="0">
                <a:latin typeface="Times New Roman"/>
                <a:ea typeface="ヒラギノ角ゴ Pro W3"/>
              </a:rPr>
              <a:t>100 milliseconds for hand–eye coordination activities </a:t>
            </a:r>
            <a:endParaRPr lang="en-US" dirty="0" smtClean="0">
              <a:latin typeface="Times New Roman"/>
              <a:ea typeface="ヒラギノ角ゴ Pro W3"/>
            </a:endParaRPr>
          </a:p>
          <a:p>
            <a:pPr lvl="2"/>
            <a:r>
              <a:rPr lang="en-US" dirty="0" smtClean="0">
                <a:latin typeface="Times New Roman"/>
                <a:ea typeface="ヒラギノ角ゴ Pro W3"/>
              </a:rPr>
              <a:t>One </a:t>
            </a:r>
            <a:r>
              <a:rPr lang="en-US" dirty="0">
                <a:latin typeface="Times New Roman"/>
                <a:ea typeface="ヒラギノ角ゴ Pro W3"/>
              </a:rPr>
              <a:t>second for a cause–effect relationship such as clicking a button and something </a:t>
            </a:r>
            <a:r>
              <a:rPr lang="en-US" dirty="0" smtClean="0">
                <a:latin typeface="Times New Roman"/>
                <a:ea typeface="ヒラギノ角ゴ Pro W3"/>
              </a:rPr>
              <a:t>happening</a:t>
            </a:r>
          </a:p>
          <a:p>
            <a:pPr lvl="2"/>
            <a:r>
              <a:rPr lang="en-US" dirty="0" smtClean="0">
                <a:latin typeface="Times New Roman"/>
                <a:ea typeface="ヒラギノ角ゴ Pro W3"/>
              </a:rPr>
              <a:t>Anything </a:t>
            </a:r>
            <a:r>
              <a:rPr lang="en-US" dirty="0">
                <a:latin typeface="Times New Roman"/>
                <a:ea typeface="ヒラギノ角ゴ Pro W3"/>
              </a:rPr>
              <a:t>more than 5 </a:t>
            </a:r>
            <a:r>
              <a:rPr lang="en-US" dirty="0" smtClean="0">
                <a:latin typeface="Times New Roman"/>
                <a:ea typeface="ヒラギノ角ゴ Pro W3"/>
              </a:rPr>
              <a:t>seconds, people </a:t>
            </a:r>
            <a:r>
              <a:rPr lang="en-US" dirty="0">
                <a:latin typeface="Times New Roman"/>
                <a:ea typeface="ヒラギノ角ゴ Pro W3"/>
              </a:rPr>
              <a:t>will feel frustrated and confused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92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Cooperation</a:t>
            </a:r>
          </a:p>
          <a:p>
            <a:pPr lvl="1"/>
            <a:r>
              <a:rPr lang="en-US" dirty="0" smtClean="0"/>
              <a:t>Individual VS group task</a:t>
            </a:r>
          </a:p>
          <a:p>
            <a:pPr lvl="1"/>
            <a:r>
              <a:rPr lang="en-US" dirty="0" smtClean="0"/>
              <a:t>Awareness, communication, and coordination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Complexity</a:t>
            </a:r>
          </a:p>
          <a:p>
            <a:pPr lvl="1"/>
            <a:r>
              <a:rPr lang="en-US" dirty="0" smtClean="0"/>
              <a:t>Well-defined VS vague task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Safety-critical</a:t>
            </a:r>
          </a:p>
          <a:p>
            <a:pPr lvl="1"/>
            <a:r>
              <a:rPr lang="en-US" dirty="0" smtClean="0">
                <a:latin typeface="Times New Roman"/>
                <a:ea typeface="ヒラギノ角ゴ Pro W3"/>
              </a:rPr>
              <a:t>Serious consequences</a:t>
            </a:r>
          </a:p>
          <a:p>
            <a:pPr lvl="1"/>
            <a:r>
              <a:rPr lang="en-US" dirty="0" smtClean="0">
                <a:latin typeface="Times New Roman"/>
                <a:ea typeface="ヒラギノ角ゴ Pro W3"/>
              </a:rPr>
              <a:t>Error handling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Nature of content</a:t>
            </a:r>
          </a:p>
          <a:p>
            <a:pPr lvl="1"/>
            <a:r>
              <a:rPr lang="en-US" dirty="0" smtClean="0"/>
              <a:t>Text VS video data</a:t>
            </a:r>
          </a:p>
          <a:p>
            <a:pPr lvl="1"/>
            <a:r>
              <a:rPr lang="en-US" dirty="0" smtClean="0"/>
              <a:t>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Activities always have some context</a:t>
            </a:r>
          </a:p>
          <a:p>
            <a:r>
              <a:rPr lang="en-US" dirty="0" smtClean="0"/>
              <a:t>Surrounding VS multiple activities</a:t>
            </a:r>
          </a:p>
          <a:p>
            <a:r>
              <a:rPr lang="en-US" dirty="0" smtClean="0"/>
              <a:t>Physical environment</a:t>
            </a:r>
          </a:p>
          <a:p>
            <a:pPr lvl="1"/>
            <a:r>
              <a:rPr lang="en-US" dirty="0" smtClean="0"/>
              <a:t>Light, noise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/>
              <a:t>Social </a:t>
            </a:r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Social norms</a:t>
            </a:r>
            <a:endParaRPr lang="en-US" dirty="0"/>
          </a:p>
          <a:p>
            <a:r>
              <a:rPr lang="en-US" dirty="0" smtClean="0"/>
              <a:t>Organizational context</a:t>
            </a:r>
          </a:p>
          <a:p>
            <a:pPr lvl="1"/>
            <a:r>
              <a:rPr lang="en-US" dirty="0" smtClean="0"/>
              <a:t>Power/authority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3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Hardware and software</a:t>
            </a:r>
          </a:p>
          <a:p>
            <a:r>
              <a:rPr lang="en-US" dirty="0" smtClean="0"/>
              <a:t>Large variety of devices</a:t>
            </a:r>
          </a:p>
          <a:p>
            <a:r>
              <a:rPr lang="en-US" dirty="0" smtClean="0"/>
              <a:t>Processing cycle</a:t>
            </a:r>
          </a:p>
          <a:p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Buttons – direct method</a:t>
            </a:r>
          </a:p>
          <a:p>
            <a:pPr lvl="1"/>
            <a:r>
              <a:rPr lang="en-US" dirty="0" smtClean="0"/>
              <a:t>Mobile phones?</a:t>
            </a:r>
          </a:p>
          <a:p>
            <a:pPr lvl="1"/>
            <a:r>
              <a:rPr lang="en-US" dirty="0"/>
              <a:t>‘QWERTY’ </a:t>
            </a:r>
            <a:r>
              <a:rPr lang="en-US" dirty="0" smtClean="0"/>
              <a:t>keyboard </a:t>
            </a:r>
          </a:p>
          <a:p>
            <a:pPr lvl="1"/>
            <a:r>
              <a:rPr lang="en-US" dirty="0" smtClean="0"/>
              <a:t>Single touch VS multi touch</a:t>
            </a:r>
          </a:p>
          <a:p>
            <a:pPr lvl="1"/>
            <a:r>
              <a:rPr lang="en-US" dirty="0"/>
              <a:t>Remote pointing </a:t>
            </a:r>
          </a:p>
          <a:p>
            <a:pPr lvl="1"/>
            <a:r>
              <a:rPr lang="en-US" dirty="0"/>
              <a:t>Different </a:t>
            </a:r>
            <a:r>
              <a:rPr lang="en-US" dirty="0" smtClean="0"/>
              <a:t>sensors</a:t>
            </a:r>
            <a:endParaRPr lang="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6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Output</a:t>
            </a:r>
          </a:p>
          <a:p>
            <a:pPr lvl="1"/>
            <a:r>
              <a:rPr lang="en-US" dirty="0" smtClean="0"/>
              <a:t>Mainly different types of screens</a:t>
            </a:r>
          </a:p>
          <a:p>
            <a:pPr lvl="1"/>
            <a:r>
              <a:rPr lang="en-US" dirty="0" smtClean="0"/>
              <a:t>Physical dimensions, resolution</a:t>
            </a:r>
          </a:p>
          <a:p>
            <a:pPr lvl="1"/>
            <a:r>
              <a:rPr lang="en-US" dirty="0" smtClean="0"/>
              <a:t>Projectors</a:t>
            </a:r>
          </a:p>
          <a:p>
            <a:pPr lvl="1"/>
            <a:r>
              <a:rPr lang="en-US" dirty="0" smtClean="0"/>
              <a:t>Printers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9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806</Words>
  <Application>Microsoft Office PowerPoint</Application>
  <PresentationFormat>Widescreen</PresentationFormat>
  <Paragraphs>149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ヒラギノ角ゴ Pro W3</vt:lpstr>
      <vt:lpstr>Office Theme</vt:lpstr>
      <vt:lpstr>PACT Framework (Chapter 2) Lecture 7-8</vt:lpstr>
      <vt:lpstr>Introduction</vt:lpstr>
      <vt:lpstr>PACT Analysis</vt:lpstr>
      <vt:lpstr>PowerPoint Presentation</vt:lpstr>
      <vt:lpstr>When to Use a PACT Analysis?</vt:lpstr>
      <vt:lpstr>People</vt:lpstr>
      <vt:lpstr>What Fitts’ Law says</vt:lpstr>
      <vt:lpstr>Examples in HCI &amp; UI Design</vt:lpstr>
      <vt:lpstr>Mental models</vt:lpstr>
      <vt:lpstr>Mental models</vt:lpstr>
      <vt:lpstr>Mental models</vt:lpstr>
      <vt:lpstr>People</vt:lpstr>
      <vt:lpstr>Activities</vt:lpstr>
      <vt:lpstr>Activities</vt:lpstr>
      <vt:lpstr>Context</vt:lpstr>
      <vt:lpstr>Technologies</vt:lpstr>
      <vt:lpstr>Technologies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2026-02-03T19:46:00Z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